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8" r:id="rId10"/>
    <p:sldId id="267" r:id="rId11"/>
    <p:sldId id="264" r:id="rId12"/>
    <p:sldId id="265"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E8DC"/>
    <a:srgbClr val="EEF4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26D088-25C5-42A8-ADFA-1BEA88E5B41E}" v="27" dt="2026-05-05T23:20:18.3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66460" autoAdjust="0"/>
  </p:normalViewPr>
  <p:slideViewPr>
    <p:cSldViewPr snapToGrid="0">
      <p:cViewPr varScale="1">
        <p:scale>
          <a:sx n="95" d="100"/>
          <a:sy n="95" d="100"/>
        </p:scale>
        <p:origin x="177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Bains-Jordan" userId="131992209d312d3b" providerId="Windows Live" clId="Web-{661DE2D9-EBDD-48AF-A1A7-5F1C46470780}"/>
    <pc:docChg chg="mod addSld delSld modSld addMainMaster delMainMaster modNotesMaster setSldSz">
      <pc:chgData name="Ryan Bains-Jordan" userId="131992209d312d3b" providerId="Windows Live" clId="Web-{661DE2D9-EBDD-48AF-A1A7-5F1C46470780}" dt="2026-05-02T20:01:21.796" v="64" actId="1076"/>
      <pc:docMkLst>
        <pc:docMk/>
      </pc:docMkLst>
      <pc:sldChg chg="addSp delSp modSp add">
        <pc:chgData name="Ryan Bains-Jordan" userId="131992209d312d3b" providerId="Windows Live" clId="Web-{661DE2D9-EBDD-48AF-A1A7-5F1C46470780}" dt="2026-05-02T19:57:26.871" v="36"/>
        <pc:sldMkLst>
          <pc:docMk/>
          <pc:sldMk cId="0" sldId="256"/>
        </pc:sldMkLst>
        <pc:spChg chg="mod">
          <ac:chgData name="Ryan Bains-Jordan" userId="131992209d312d3b" providerId="Windows Live" clId="Web-{661DE2D9-EBDD-48AF-A1A7-5F1C46470780}" dt="2026-05-02T19:57:20.387" v="33" actId="1076"/>
          <ac:spMkLst>
            <pc:docMk/>
            <pc:sldMk cId="0" sldId="256"/>
            <ac:spMk id="5" creationId="{00000000-0000-0000-0000-000000000000}"/>
          </ac:spMkLst>
        </pc:spChg>
        <pc:spChg chg="mod">
          <ac:chgData name="Ryan Bains-Jordan" userId="131992209d312d3b" providerId="Windows Live" clId="Web-{661DE2D9-EBDD-48AF-A1A7-5F1C46470780}" dt="2026-05-02T19:57:20.403" v="34" actId="1076"/>
          <ac:spMkLst>
            <pc:docMk/>
            <pc:sldMk cId="0" sldId="256"/>
            <ac:spMk id="6" creationId="{00000000-0000-0000-0000-000000000000}"/>
          </ac:spMkLst>
        </pc:spChg>
        <pc:picChg chg="add mod ord">
          <ac:chgData name="Ryan Bains-Jordan" userId="131992209d312d3b" providerId="Windows Live" clId="Web-{661DE2D9-EBDD-48AF-A1A7-5F1C46470780}" dt="2026-05-02T19:56:43.168" v="24" actId="1076"/>
          <ac:picMkLst>
            <pc:docMk/>
            <pc:sldMk cId="0" sldId="256"/>
            <ac:picMk id="8" creationId="{46B7F035-B6E5-E7E5-B46F-7C6778B77505}"/>
          </ac:picMkLst>
        </pc:picChg>
      </pc:sldChg>
      <pc:sldChg chg="modSp add">
        <pc:chgData name="Ryan Bains-Jordan" userId="131992209d312d3b" providerId="Windows Live" clId="Web-{661DE2D9-EBDD-48AF-A1A7-5F1C46470780}" dt="2026-05-02T19:31:56.877" v="8" actId="1076"/>
        <pc:sldMkLst>
          <pc:docMk/>
          <pc:sldMk cId="0" sldId="257"/>
        </pc:sldMkLst>
        <pc:picChg chg="mod ord">
          <ac:chgData name="Ryan Bains-Jordan" userId="131992209d312d3b" providerId="Windows Live" clId="Web-{661DE2D9-EBDD-48AF-A1A7-5F1C46470780}" dt="2026-05-02T19:31:56.877" v="8" actId="1076"/>
          <ac:picMkLst>
            <pc:docMk/>
            <pc:sldMk cId="0" sldId="257"/>
            <ac:picMk id="2" creationId="{00000000-0000-0000-0000-000000000000}"/>
          </ac:picMkLst>
        </pc:picChg>
        <pc:picChg chg="mod">
          <ac:chgData name="Ryan Bains-Jordan" userId="131992209d312d3b" providerId="Windows Live" clId="Web-{661DE2D9-EBDD-48AF-A1A7-5F1C46470780}" dt="2026-05-02T19:31:50.893" v="7" actId="1076"/>
          <ac:picMkLst>
            <pc:docMk/>
            <pc:sldMk cId="0" sldId="257"/>
            <ac:picMk id="3" creationId="{00000000-0000-0000-0000-000000000000}"/>
          </ac:picMkLst>
        </pc:picChg>
      </pc:sldChg>
      <pc:sldChg chg="modSp add">
        <pc:chgData name="Ryan Bains-Jordan" userId="131992209d312d3b" providerId="Windows Live" clId="Web-{661DE2D9-EBDD-48AF-A1A7-5F1C46470780}" dt="2026-05-02T19:31:45.533" v="6" actId="1076"/>
        <pc:sldMkLst>
          <pc:docMk/>
          <pc:sldMk cId="0" sldId="258"/>
        </pc:sldMkLst>
        <pc:picChg chg="mod ord">
          <ac:chgData name="Ryan Bains-Jordan" userId="131992209d312d3b" providerId="Windows Live" clId="Web-{661DE2D9-EBDD-48AF-A1A7-5F1C46470780}" dt="2026-05-02T19:31:35.549" v="5" actId="1076"/>
          <ac:picMkLst>
            <pc:docMk/>
            <pc:sldMk cId="0" sldId="258"/>
            <ac:picMk id="2" creationId="{00000000-0000-0000-0000-000000000000}"/>
          </ac:picMkLst>
        </pc:picChg>
        <pc:picChg chg="mod">
          <ac:chgData name="Ryan Bains-Jordan" userId="131992209d312d3b" providerId="Windows Live" clId="Web-{661DE2D9-EBDD-48AF-A1A7-5F1C46470780}" dt="2026-05-02T19:31:45.533" v="6" actId="1076"/>
          <ac:picMkLst>
            <pc:docMk/>
            <pc:sldMk cId="0" sldId="258"/>
            <ac:picMk id="3" creationId="{00000000-0000-0000-0000-000000000000}"/>
          </ac:picMkLst>
        </pc:picChg>
      </pc:sldChg>
      <pc:sldChg chg="modSp add">
        <pc:chgData name="Ryan Bains-Jordan" userId="131992209d312d3b" providerId="Windows Live" clId="Web-{661DE2D9-EBDD-48AF-A1A7-5F1C46470780}" dt="2026-05-02T19:32:17.643" v="10"/>
        <pc:sldMkLst>
          <pc:docMk/>
          <pc:sldMk cId="0" sldId="259"/>
        </pc:sldMkLst>
        <pc:spChg chg="ord">
          <ac:chgData name="Ryan Bains-Jordan" userId="131992209d312d3b" providerId="Windows Live" clId="Web-{661DE2D9-EBDD-48AF-A1A7-5F1C46470780}" dt="2026-05-02T19:32:17.643" v="10"/>
          <ac:spMkLst>
            <pc:docMk/>
            <pc:sldMk cId="0" sldId="259"/>
            <ac:spMk id="6" creationId="{00000000-0000-0000-0000-000000000000}"/>
          </ac:spMkLst>
        </pc:spChg>
        <pc:picChg chg="mod">
          <ac:chgData name="Ryan Bains-Jordan" userId="131992209d312d3b" providerId="Windows Live" clId="Web-{661DE2D9-EBDD-48AF-A1A7-5F1C46470780}" dt="2026-05-02T19:32:13.534" v="9" actId="1076"/>
          <ac:picMkLst>
            <pc:docMk/>
            <pc:sldMk cId="0" sldId="259"/>
            <ac:picMk id="5" creationId="{00000000-0000-0000-0000-000000000000}"/>
          </ac:picMkLst>
        </pc:picChg>
      </pc:sldChg>
      <pc:sldChg chg="modSp add">
        <pc:chgData name="Ryan Bains-Jordan" userId="131992209d312d3b" providerId="Windows Live" clId="Web-{661DE2D9-EBDD-48AF-A1A7-5F1C46470780}" dt="2026-05-02T19:32:31.050" v="12"/>
        <pc:sldMkLst>
          <pc:docMk/>
          <pc:sldMk cId="0" sldId="260"/>
        </pc:sldMkLst>
        <pc:picChg chg="mod">
          <ac:chgData name="Ryan Bains-Jordan" userId="131992209d312d3b" providerId="Windows Live" clId="Web-{661DE2D9-EBDD-48AF-A1A7-5F1C46470780}" dt="2026-05-02T19:32:27.378" v="11" actId="1076"/>
          <ac:picMkLst>
            <pc:docMk/>
            <pc:sldMk cId="0" sldId="260"/>
            <ac:picMk id="5" creationId="{00000000-0000-0000-0000-000000000000}"/>
          </ac:picMkLst>
        </pc:picChg>
      </pc:sldChg>
      <pc:sldChg chg="modSp add">
        <pc:chgData name="Ryan Bains-Jordan" userId="131992209d312d3b" providerId="Windows Live" clId="Web-{661DE2D9-EBDD-48AF-A1A7-5F1C46470780}" dt="2026-05-02T19:58:32.310" v="38"/>
        <pc:sldMkLst>
          <pc:docMk/>
          <pc:sldMk cId="0" sldId="261"/>
        </pc:sldMkLst>
        <pc:spChg chg="ord">
          <ac:chgData name="Ryan Bains-Jordan" userId="131992209d312d3b" providerId="Windows Live" clId="Web-{661DE2D9-EBDD-48AF-A1A7-5F1C46470780}" dt="2026-05-02T19:58:32.310" v="38"/>
          <ac:spMkLst>
            <pc:docMk/>
            <pc:sldMk cId="0" sldId="261"/>
            <ac:spMk id="6" creationId="{00000000-0000-0000-0000-000000000000}"/>
          </ac:spMkLst>
        </pc:spChg>
        <pc:picChg chg="mod">
          <ac:chgData name="Ryan Bains-Jordan" userId="131992209d312d3b" providerId="Windows Live" clId="Web-{661DE2D9-EBDD-48AF-A1A7-5F1C46470780}" dt="2026-05-02T19:58:24.028" v="37" actId="1076"/>
          <ac:picMkLst>
            <pc:docMk/>
            <pc:sldMk cId="0" sldId="261"/>
            <ac:picMk id="5" creationId="{00000000-0000-0000-0000-000000000000}"/>
          </ac:picMkLst>
        </pc:picChg>
      </pc:sldChg>
      <pc:sldChg chg="modSp add">
        <pc:chgData name="Ryan Bains-Jordan" userId="131992209d312d3b" providerId="Windows Live" clId="Web-{661DE2D9-EBDD-48AF-A1A7-5F1C46470780}" dt="2026-05-02T19:58:53.341" v="40"/>
        <pc:sldMkLst>
          <pc:docMk/>
          <pc:sldMk cId="0" sldId="262"/>
        </pc:sldMkLst>
        <pc:spChg chg="ord">
          <ac:chgData name="Ryan Bains-Jordan" userId="131992209d312d3b" providerId="Windows Live" clId="Web-{661DE2D9-EBDD-48AF-A1A7-5F1C46470780}" dt="2026-05-02T19:58:53.341" v="40"/>
          <ac:spMkLst>
            <pc:docMk/>
            <pc:sldMk cId="0" sldId="262"/>
            <ac:spMk id="6" creationId="{00000000-0000-0000-0000-000000000000}"/>
          </ac:spMkLst>
        </pc:spChg>
        <pc:picChg chg="mod">
          <ac:chgData name="Ryan Bains-Jordan" userId="131992209d312d3b" providerId="Windows Live" clId="Web-{661DE2D9-EBDD-48AF-A1A7-5F1C46470780}" dt="2026-05-02T19:58:48.482" v="39" actId="1076"/>
          <ac:picMkLst>
            <pc:docMk/>
            <pc:sldMk cId="0" sldId="262"/>
            <ac:picMk id="5" creationId="{00000000-0000-0000-0000-000000000000}"/>
          </ac:picMkLst>
        </pc:picChg>
      </pc:sldChg>
      <pc:sldChg chg="modSp add">
        <pc:chgData name="Ryan Bains-Jordan" userId="131992209d312d3b" providerId="Windows Live" clId="Web-{661DE2D9-EBDD-48AF-A1A7-5F1C46470780}" dt="2026-05-02T19:59:06.154" v="42"/>
        <pc:sldMkLst>
          <pc:docMk/>
          <pc:sldMk cId="0" sldId="263"/>
        </pc:sldMkLst>
        <pc:spChg chg="ord">
          <ac:chgData name="Ryan Bains-Jordan" userId="131992209d312d3b" providerId="Windows Live" clId="Web-{661DE2D9-EBDD-48AF-A1A7-5F1C46470780}" dt="2026-05-02T19:59:06.154" v="42"/>
          <ac:spMkLst>
            <pc:docMk/>
            <pc:sldMk cId="0" sldId="263"/>
            <ac:spMk id="6" creationId="{00000000-0000-0000-0000-000000000000}"/>
          </ac:spMkLst>
        </pc:spChg>
        <pc:picChg chg="mod">
          <ac:chgData name="Ryan Bains-Jordan" userId="131992209d312d3b" providerId="Windows Live" clId="Web-{661DE2D9-EBDD-48AF-A1A7-5F1C46470780}" dt="2026-05-02T19:59:03.107" v="41" actId="1076"/>
          <ac:picMkLst>
            <pc:docMk/>
            <pc:sldMk cId="0" sldId="263"/>
            <ac:picMk id="5" creationId="{00000000-0000-0000-0000-000000000000}"/>
          </ac:picMkLst>
        </pc:picChg>
      </pc:sldChg>
      <pc:sldChg chg="modSp add">
        <pc:chgData name="Ryan Bains-Jordan" userId="131992209d312d3b" providerId="Windows Live" clId="Web-{661DE2D9-EBDD-48AF-A1A7-5F1C46470780}" dt="2026-05-02T19:59:20.560" v="44"/>
        <pc:sldMkLst>
          <pc:docMk/>
          <pc:sldMk cId="0" sldId="264"/>
        </pc:sldMkLst>
        <pc:spChg chg="ord">
          <ac:chgData name="Ryan Bains-Jordan" userId="131992209d312d3b" providerId="Windows Live" clId="Web-{661DE2D9-EBDD-48AF-A1A7-5F1C46470780}" dt="2026-05-02T19:59:20.560" v="44"/>
          <ac:spMkLst>
            <pc:docMk/>
            <pc:sldMk cId="0" sldId="264"/>
            <ac:spMk id="6" creationId="{00000000-0000-0000-0000-000000000000}"/>
          </ac:spMkLst>
        </pc:spChg>
        <pc:picChg chg="mod">
          <ac:chgData name="Ryan Bains-Jordan" userId="131992209d312d3b" providerId="Windows Live" clId="Web-{661DE2D9-EBDD-48AF-A1A7-5F1C46470780}" dt="2026-05-02T19:59:17.685" v="43" actId="1076"/>
          <ac:picMkLst>
            <pc:docMk/>
            <pc:sldMk cId="0" sldId="264"/>
            <ac:picMk id="5" creationId="{00000000-0000-0000-0000-000000000000}"/>
          </ac:picMkLst>
        </pc:picChg>
      </pc:sldChg>
      <pc:sldChg chg="addSp delSp modSp add">
        <pc:chgData name="Ryan Bains-Jordan" userId="131992209d312d3b" providerId="Windows Live" clId="Web-{661DE2D9-EBDD-48AF-A1A7-5F1C46470780}" dt="2026-05-02T20:01:08.389" v="62"/>
        <pc:sldMkLst>
          <pc:docMk/>
          <pc:sldMk cId="0" sldId="265"/>
        </pc:sldMkLst>
        <pc:spChg chg="mod">
          <ac:chgData name="Ryan Bains-Jordan" userId="131992209d312d3b" providerId="Windows Live" clId="Web-{661DE2D9-EBDD-48AF-A1A7-5F1C46470780}" dt="2026-05-02T20:00:50.467" v="59" actId="1076"/>
          <ac:spMkLst>
            <pc:docMk/>
            <pc:sldMk cId="0" sldId="265"/>
            <ac:spMk id="4" creationId="{00000000-0000-0000-0000-000000000000}"/>
          </ac:spMkLst>
        </pc:spChg>
        <pc:picChg chg="add del mod ord">
          <ac:chgData name="Ryan Bains-Jordan" userId="131992209d312d3b" providerId="Windows Live" clId="Web-{661DE2D9-EBDD-48AF-A1A7-5F1C46470780}" dt="2026-05-02T20:01:08.358" v="61"/>
          <ac:picMkLst>
            <pc:docMk/>
            <pc:sldMk cId="0" sldId="265"/>
            <ac:picMk id="2" creationId="{00000000-0000-0000-0000-000000000000}"/>
          </ac:picMkLst>
        </pc:picChg>
        <pc:picChg chg="add del mod ord">
          <ac:chgData name="Ryan Bains-Jordan" userId="131992209d312d3b" providerId="Windows Live" clId="Web-{661DE2D9-EBDD-48AF-A1A7-5F1C46470780}" dt="2026-05-02T20:01:08.389" v="62"/>
          <ac:picMkLst>
            <pc:docMk/>
            <pc:sldMk cId="0" sldId="265"/>
            <ac:picMk id="3" creationId="{00000000-0000-0000-0000-000000000000}"/>
          </ac:picMkLst>
        </pc:picChg>
      </pc:sldChg>
      <pc:sldChg chg="modSp add">
        <pc:chgData name="Ryan Bains-Jordan" userId="131992209d312d3b" providerId="Windows Live" clId="Web-{661DE2D9-EBDD-48AF-A1A7-5F1C46470780}" dt="2026-05-02T20:01:21.796" v="64" actId="1076"/>
        <pc:sldMkLst>
          <pc:docMk/>
          <pc:sldMk cId="0" sldId="266"/>
        </pc:sldMkLst>
        <pc:picChg chg="mod">
          <ac:chgData name="Ryan Bains-Jordan" userId="131992209d312d3b" providerId="Windows Live" clId="Web-{661DE2D9-EBDD-48AF-A1A7-5F1C46470780}" dt="2026-05-02T20:01:21.796" v="64" actId="1076"/>
          <ac:picMkLst>
            <pc:docMk/>
            <pc:sldMk cId="0" sldId="266"/>
            <ac:picMk id="2" creationId="{00000000-0000-0000-0000-000000000000}"/>
          </ac:picMkLst>
        </pc:picChg>
        <pc:picChg chg="mod">
          <ac:chgData name="Ryan Bains-Jordan" userId="131992209d312d3b" providerId="Windows Live" clId="Web-{661DE2D9-EBDD-48AF-A1A7-5F1C46470780}" dt="2026-05-02T20:01:18.999" v="63" actId="1076"/>
          <ac:picMkLst>
            <pc:docMk/>
            <pc:sldMk cId="0" sldId="266"/>
            <ac:picMk id="3" creationId="{00000000-0000-0000-0000-000000000000}"/>
          </ac:picMkLst>
        </pc:picChg>
      </pc:sldChg>
      <pc:sldMasterChg chg="add addSldLayout">
        <pc:chgData name="Ryan Bains-Jordan" userId="131992209d312d3b" providerId="Windows Live" clId="Web-{661DE2D9-EBDD-48AF-A1A7-5F1C46470780}" dt="2026-05-02T19:30:40.766" v="1"/>
        <pc:sldMasterMkLst>
          <pc:docMk/>
          <pc:sldMasterMk cId="0" sldId="2147483648"/>
        </pc:sldMasterMkLst>
        <pc:sldLayoutChg chg="add">
          <pc:chgData name="Ryan Bains-Jordan" userId="131992209d312d3b" providerId="Windows Live" clId="Web-{661DE2D9-EBDD-48AF-A1A7-5F1C46470780}" dt="2026-05-02T19:30:40.766" v="1"/>
          <pc:sldLayoutMkLst>
            <pc:docMk/>
            <pc:sldMasterMk cId="0" sldId="2147483648"/>
            <pc:sldLayoutMk cId="0" sldId="2147483649"/>
          </pc:sldLayoutMkLst>
        </pc:sldLayoutChg>
      </pc:sldMasterChg>
    </pc:docChg>
  </pc:docChgLst>
  <pc:docChgLst>
    <pc:chgData name="Ryan Bains-Jordan" userId="131992209d312d3b" providerId="LiveId" clId="{03792FE3-9006-47D3-8773-C41E3BBBD2D1}"/>
    <pc:docChg chg="undo custSel addSld modSld sldOrd">
      <pc:chgData name="Ryan Bains-Jordan" userId="131992209d312d3b" providerId="LiveId" clId="{03792FE3-9006-47D3-8773-C41E3BBBD2D1}" dt="2026-05-05T23:21:59.691" v="17429" actId="20577"/>
      <pc:docMkLst>
        <pc:docMk/>
      </pc:docMkLst>
      <pc:sldChg chg="modNotesTx">
        <pc:chgData name="Ryan Bains-Jordan" userId="131992209d312d3b" providerId="LiveId" clId="{03792FE3-9006-47D3-8773-C41E3BBBD2D1}" dt="2026-05-05T22:23:03.318" v="6642" actId="20577"/>
        <pc:sldMkLst>
          <pc:docMk/>
          <pc:sldMk cId="0" sldId="256"/>
        </pc:sldMkLst>
      </pc:sldChg>
      <pc:sldChg chg="addSp modSp mod modNotesTx">
        <pc:chgData name="Ryan Bains-Jordan" userId="131992209d312d3b" providerId="LiveId" clId="{03792FE3-9006-47D3-8773-C41E3BBBD2D1}" dt="2026-05-05T22:43:18.465" v="10044" actId="20577"/>
        <pc:sldMkLst>
          <pc:docMk/>
          <pc:sldMk cId="0" sldId="257"/>
        </pc:sldMkLst>
        <pc:spChg chg="mod">
          <ac:chgData name="Ryan Bains-Jordan" userId="131992209d312d3b" providerId="LiveId" clId="{03792FE3-9006-47D3-8773-C41E3BBBD2D1}" dt="2026-05-04T00:20:42.260" v="1141" actId="20577"/>
          <ac:spMkLst>
            <pc:docMk/>
            <pc:sldMk cId="0" sldId="257"/>
            <ac:spMk id="6" creationId="{00000000-0000-0000-0000-000000000000}"/>
          </ac:spMkLst>
        </pc:spChg>
        <pc:spChg chg="add mod">
          <ac:chgData name="Ryan Bains-Jordan" userId="131992209d312d3b" providerId="LiveId" clId="{03792FE3-9006-47D3-8773-C41E3BBBD2D1}" dt="2026-05-04T00:19:53.136" v="1138" actId="255"/>
          <ac:spMkLst>
            <pc:docMk/>
            <pc:sldMk cId="0" sldId="257"/>
            <ac:spMk id="7" creationId="{582D5C64-75A4-CADC-A638-AA7FB2C138CB}"/>
          </ac:spMkLst>
        </pc:spChg>
        <pc:cxnChg chg="add mod">
          <ac:chgData name="Ryan Bains-Jordan" userId="131992209d312d3b" providerId="LiveId" clId="{03792FE3-9006-47D3-8773-C41E3BBBD2D1}" dt="2026-05-04T00:21:13.533" v="1144" actId="1582"/>
          <ac:cxnSpMkLst>
            <pc:docMk/>
            <pc:sldMk cId="0" sldId="257"/>
            <ac:cxnSpMk id="9" creationId="{EE135A81-98E9-9B8F-10D6-E3AF37D690C3}"/>
          </ac:cxnSpMkLst>
        </pc:cxnChg>
      </pc:sldChg>
      <pc:sldChg chg="addSp modSp mod modNotesTx">
        <pc:chgData name="Ryan Bains-Jordan" userId="131992209d312d3b" providerId="LiveId" clId="{03792FE3-9006-47D3-8773-C41E3BBBD2D1}" dt="2026-05-05T22:53:55.640" v="11906" actId="20577"/>
        <pc:sldMkLst>
          <pc:docMk/>
          <pc:sldMk cId="0" sldId="258"/>
        </pc:sldMkLst>
        <pc:spChg chg="mod">
          <ac:chgData name="Ryan Bains-Jordan" userId="131992209d312d3b" providerId="LiveId" clId="{03792FE3-9006-47D3-8773-C41E3BBBD2D1}" dt="2026-05-04T00:53:00.790" v="1896" actId="113"/>
          <ac:spMkLst>
            <pc:docMk/>
            <pc:sldMk cId="0" sldId="258"/>
            <ac:spMk id="6" creationId="{00000000-0000-0000-0000-000000000000}"/>
          </ac:spMkLst>
        </pc:spChg>
        <pc:picChg chg="add mod">
          <ac:chgData name="Ryan Bains-Jordan" userId="131992209d312d3b" providerId="LiveId" clId="{03792FE3-9006-47D3-8773-C41E3BBBD2D1}" dt="2026-05-04T00:25:53.767" v="1851" actId="1076"/>
          <ac:picMkLst>
            <pc:docMk/>
            <pc:sldMk cId="0" sldId="258"/>
            <ac:picMk id="8" creationId="{C2C4B0BE-9291-4C42-4D8F-D929143C81B1}"/>
          </ac:picMkLst>
        </pc:picChg>
      </pc:sldChg>
      <pc:sldChg chg="addSp modSp mod modNotesTx">
        <pc:chgData name="Ryan Bains-Jordan" userId="131992209d312d3b" providerId="LiveId" clId="{03792FE3-9006-47D3-8773-C41E3BBBD2D1}" dt="2026-05-05T22:57:51.655" v="12636" actId="20577"/>
        <pc:sldMkLst>
          <pc:docMk/>
          <pc:sldMk cId="0" sldId="259"/>
        </pc:sldMkLst>
        <pc:picChg chg="add mod">
          <ac:chgData name="Ryan Bains-Jordan" userId="131992209d312d3b" providerId="LiveId" clId="{03792FE3-9006-47D3-8773-C41E3BBBD2D1}" dt="2026-05-04T00:31:15.399" v="1856" actId="14100"/>
          <ac:picMkLst>
            <pc:docMk/>
            <pc:sldMk cId="0" sldId="259"/>
            <ac:picMk id="8" creationId="{BE934803-0CBB-7400-B653-30DE4D95AA40}"/>
          </ac:picMkLst>
        </pc:picChg>
      </pc:sldChg>
      <pc:sldChg chg="addSp delSp modSp mod modNotesTx">
        <pc:chgData name="Ryan Bains-Jordan" userId="131992209d312d3b" providerId="LiveId" clId="{03792FE3-9006-47D3-8773-C41E3BBBD2D1}" dt="2026-05-05T22:59:33.283" v="13022" actId="20577"/>
        <pc:sldMkLst>
          <pc:docMk/>
          <pc:sldMk cId="0" sldId="260"/>
        </pc:sldMkLst>
        <pc:spChg chg="del">
          <ac:chgData name="Ryan Bains-Jordan" userId="131992209d312d3b" providerId="LiveId" clId="{03792FE3-9006-47D3-8773-C41E3BBBD2D1}" dt="2026-05-04T00:52:27.397" v="1890" actId="478"/>
          <ac:spMkLst>
            <pc:docMk/>
            <pc:sldMk cId="0" sldId="260"/>
            <ac:spMk id="6" creationId="{00000000-0000-0000-0000-000000000000}"/>
          </ac:spMkLst>
        </pc:spChg>
        <pc:spChg chg="add mod">
          <ac:chgData name="Ryan Bains-Jordan" userId="131992209d312d3b" providerId="LiveId" clId="{03792FE3-9006-47D3-8773-C41E3BBBD2D1}" dt="2026-05-04T01:25:00.177" v="2328" actId="113"/>
          <ac:spMkLst>
            <pc:docMk/>
            <pc:sldMk cId="0" sldId="260"/>
            <ac:spMk id="7" creationId="{B493E17F-68F7-3713-3A8A-AD1F58F4119D}"/>
          </ac:spMkLst>
        </pc:spChg>
        <pc:picChg chg="add del mod">
          <ac:chgData name="Ryan Bains-Jordan" userId="131992209d312d3b" providerId="LiveId" clId="{03792FE3-9006-47D3-8773-C41E3BBBD2D1}" dt="2026-05-04T01:25:33.519" v="2329" actId="478"/>
          <ac:picMkLst>
            <pc:docMk/>
            <pc:sldMk cId="0" sldId="260"/>
            <ac:picMk id="8" creationId="{F20E6C96-278E-7034-E0C2-D357D17C49AF}"/>
          </ac:picMkLst>
        </pc:picChg>
        <pc:picChg chg="add mod">
          <ac:chgData name="Ryan Bains-Jordan" userId="131992209d312d3b" providerId="LiveId" clId="{03792FE3-9006-47D3-8773-C41E3BBBD2D1}" dt="2026-05-04T01:30:30.719" v="2334" actId="14100"/>
          <ac:picMkLst>
            <pc:docMk/>
            <pc:sldMk cId="0" sldId="260"/>
            <ac:picMk id="10" creationId="{9295C49C-9ECD-E488-B6E3-4E7B84613F12}"/>
          </ac:picMkLst>
        </pc:picChg>
      </pc:sldChg>
      <pc:sldChg chg="addSp modSp mod modNotesTx">
        <pc:chgData name="Ryan Bains-Jordan" userId="131992209d312d3b" providerId="LiveId" clId="{03792FE3-9006-47D3-8773-C41E3BBBD2D1}" dt="2026-05-05T23:01:44.590" v="13547" actId="20577"/>
        <pc:sldMkLst>
          <pc:docMk/>
          <pc:sldMk cId="0" sldId="261"/>
        </pc:sldMkLst>
        <pc:spChg chg="mod">
          <ac:chgData name="Ryan Bains-Jordan" userId="131992209d312d3b" providerId="LiveId" clId="{03792FE3-9006-47D3-8773-C41E3BBBD2D1}" dt="2026-05-04T00:46:42.894" v="1867" actId="207"/>
          <ac:spMkLst>
            <pc:docMk/>
            <pc:sldMk cId="0" sldId="261"/>
            <ac:spMk id="6" creationId="{00000000-0000-0000-0000-000000000000}"/>
          </ac:spMkLst>
        </pc:spChg>
        <pc:picChg chg="add mod">
          <ac:chgData name="Ryan Bains-Jordan" userId="131992209d312d3b" providerId="LiveId" clId="{03792FE3-9006-47D3-8773-C41E3BBBD2D1}" dt="2026-05-04T00:46:16.522" v="1865" actId="14100"/>
          <ac:picMkLst>
            <pc:docMk/>
            <pc:sldMk cId="0" sldId="261"/>
            <ac:picMk id="8" creationId="{24A75F89-A56A-AC20-9873-F5F4A7DE4E4B}"/>
          </ac:picMkLst>
        </pc:picChg>
      </pc:sldChg>
      <pc:sldChg chg="addSp modSp mod ord modNotesTx">
        <pc:chgData name="Ryan Bains-Jordan" userId="131992209d312d3b" providerId="LiveId" clId="{03792FE3-9006-47D3-8773-C41E3BBBD2D1}" dt="2026-05-05T23:10:11.180" v="15355" actId="20577"/>
        <pc:sldMkLst>
          <pc:docMk/>
          <pc:sldMk cId="0" sldId="262"/>
        </pc:sldMkLst>
        <pc:spChg chg="mod">
          <ac:chgData name="Ryan Bains-Jordan" userId="131992209d312d3b" providerId="LiveId" clId="{03792FE3-9006-47D3-8773-C41E3BBBD2D1}" dt="2026-05-03T03:11:33.848" v="15" actId="20577"/>
          <ac:spMkLst>
            <pc:docMk/>
            <pc:sldMk cId="0" sldId="262"/>
            <ac:spMk id="4" creationId="{00000000-0000-0000-0000-000000000000}"/>
          </ac:spMkLst>
        </pc:spChg>
        <pc:spChg chg="mod">
          <ac:chgData name="Ryan Bains-Jordan" userId="131992209d312d3b" providerId="LiveId" clId="{03792FE3-9006-47D3-8773-C41E3BBBD2D1}" dt="2026-05-04T00:48:38.992" v="1883" actId="207"/>
          <ac:spMkLst>
            <pc:docMk/>
            <pc:sldMk cId="0" sldId="262"/>
            <ac:spMk id="6" creationId="{00000000-0000-0000-0000-000000000000}"/>
          </ac:spMkLst>
        </pc:spChg>
        <pc:picChg chg="add mod">
          <ac:chgData name="Ryan Bains-Jordan" userId="131992209d312d3b" providerId="LiveId" clId="{03792FE3-9006-47D3-8773-C41E3BBBD2D1}" dt="2026-05-04T00:48:32.090" v="1882" actId="1076"/>
          <ac:picMkLst>
            <pc:docMk/>
            <pc:sldMk cId="0" sldId="262"/>
            <ac:picMk id="8" creationId="{63348FF7-15EE-3E93-3AA4-2AA5456286F7}"/>
          </ac:picMkLst>
        </pc:picChg>
      </pc:sldChg>
      <pc:sldChg chg="addSp modSp mod modNotesTx">
        <pc:chgData name="Ryan Bains-Jordan" userId="131992209d312d3b" providerId="LiveId" clId="{03792FE3-9006-47D3-8773-C41E3BBBD2D1}" dt="2026-05-05T23:06:13.795" v="14488" actId="20577"/>
        <pc:sldMkLst>
          <pc:docMk/>
          <pc:sldMk cId="0" sldId="263"/>
        </pc:sldMkLst>
        <pc:spChg chg="mod">
          <ac:chgData name="Ryan Bains-Jordan" userId="131992209d312d3b" providerId="LiveId" clId="{03792FE3-9006-47D3-8773-C41E3BBBD2D1}" dt="2026-05-04T00:47:39.789" v="1873" actId="207"/>
          <ac:spMkLst>
            <pc:docMk/>
            <pc:sldMk cId="0" sldId="263"/>
            <ac:spMk id="6" creationId="{00000000-0000-0000-0000-000000000000}"/>
          </ac:spMkLst>
        </pc:spChg>
        <pc:picChg chg="add mod">
          <ac:chgData name="Ryan Bains-Jordan" userId="131992209d312d3b" providerId="LiveId" clId="{03792FE3-9006-47D3-8773-C41E3BBBD2D1}" dt="2026-05-04T00:47:47.651" v="1874" actId="14100"/>
          <ac:picMkLst>
            <pc:docMk/>
            <pc:sldMk cId="0" sldId="263"/>
            <ac:picMk id="8" creationId="{230D0270-055F-D615-D3BD-8EEE104E83C3}"/>
          </ac:picMkLst>
        </pc:picChg>
      </pc:sldChg>
      <pc:sldChg chg="addSp modSp mod modNotesTx">
        <pc:chgData name="Ryan Bains-Jordan" userId="131992209d312d3b" providerId="LiveId" clId="{03792FE3-9006-47D3-8773-C41E3BBBD2D1}" dt="2026-05-05T23:21:59.691" v="17429" actId="20577"/>
        <pc:sldMkLst>
          <pc:docMk/>
          <pc:sldMk cId="0" sldId="264"/>
        </pc:sldMkLst>
        <pc:spChg chg="mod">
          <ac:chgData name="Ryan Bains-Jordan" userId="131992209d312d3b" providerId="LiveId" clId="{03792FE3-9006-47D3-8773-C41E3BBBD2D1}" dt="2026-05-04T01:40:05.604" v="2374" actId="207"/>
          <ac:spMkLst>
            <pc:docMk/>
            <pc:sldMk cId="0" sldId="264"/>
            <ac:spMk id="6" creationId="{00000000-0000-0000-0000-000000000000}"/>
          </ac:spMkLst>
        </pc:spChg>
        <pc:spChg chg="add mod">
          <ac:chgData name="Ryan Bains-Jordan" userId="131992209d312d3b" providerId="LiveId" clId="{03792FE3-9006-47D3-8773-C41E3BBBD2D1}" dt="2026-05-04T01:41:15.181" v="2379" actId="208"/>
          <ac:spMkLst>
            <pc:docMk/>
            <pc:sldMk cId="0" sldId="264"/>
            <ac:spMk id="7" creationId="{41E8A874-7601-26A4-44CE-75A8707E2F1A}"/>
          </ac:spMkLst>
        </pc:spChg>
        <pc:spChg chg="add mod">
          <ac:chgData name="Ryan Bains-Jordan" userId="131992209d312d3b" providerId="LiveId" clId="{03792FE3-9006-47D3-8773-C41E3BBBD2D1}" dt="2026-05-04T01:41:10.739" v="2378" actId="208"/>
          <ac:spMkLst>
            <pc:docMk/>
            <pc:sldMk cId="0" sldId="264"/>
            <ac:spMk id="8" creationId="{C72F1024-1E5E-2D70-4208-274E8ADADA23}"/>
          </ac:spMkLst>
        </pc:spChg>
        <pc:spChg chg="add mod">
          <ac:chgData name="Ryan Bains-Jordan" userId="131992209d312d3b" providerId="LiveId" clId="{03792FE3-9006-47D3-8773-C41E3BBBD2D1}" dt="2026-05-04T01:38:19.447" v="2367" actId="571"/>
          <ac:spMkLst>
            <pc:docMk/>
            <pc:sldMk cId="0" sldId="264"/>
            <ac:spMk id="10" creationId="{AAAD00D0-17C6-F2A8-2CB7-4C774AF6E533}"/>
          </ac:spMkLst>
        </pc:spChg>
        <pc:grpChg chg="add mod">
          <ac:chgData name="Ryan Bains-Jordan" userId="131992209d312d3b" providerId="LiveId" clId="{03792FE3-9006-47D3-8773-C41E3BBBD2D1}" dt="2026-05-04T01:41:23.907" v="2380" actId="1076"/>
          <ac:grpSpMkLst>
            <pc:docMk/>
            <pc:sldMk cId="0" sldId="264"/>
            <ac:grpSpMk id="9" creationId="{3421E1C3-F681-4E90-B92E-2E9E9CF09530}"/>
          </ac:grpSpMkLst>
        </pc:grpChg>
      </pc:sldChg>
      <pc:sldChg chg="addSp modSp mod modNotesTx">
        <pc:chgData name="Ryan Bains-Jordan" userId="131992209d312d3b" providerId="LiveId" clId="{03792FE3-9006-47D3-8773-C41E3BBBD2D1}" dt="2026-05-04T22:28:51.368" v="4402" actId="20577"/>
        <pc:sldMkLst>
          <pc:docMk/>
          <pc:sldMk cId="0" sldId="265"/>
        </pc:sldMkLst>
        <pc:spChg chg="mod">
          <ac:chgData name="Ryan Bains-Jordan" userId="131992209d312d3b" providerId="LiveId" clId="{03792FE3-9006-47D3-8773-C41E3BBBD2D1}" dt="2026-05-04T22:25:53.184" v="3811" actId="20577"/>
          <ac:spMkLst>
            <pc:docMk/>
            <pc:sldMk cId="0" sldId="265"/>
            <ac:spMk id="6" creationId="{00000000-0000-0000-0000-000000000000}"/>
          </ac:spMkLst>
        </pc:spChg>
        <pc:spChg chg="add">
          <ac:chgData name="Ryan Bains-Jordan" userId="131992209d312d3b" providerId="LiveId" clId="{03792FE3-9006-47D3-8773-C41E3BBBD2D1}" dt="2026-05-04T22:13:43.049" v="3496"/>
          <ac:spMkLst>
            <pc:docMk/>
            <pc:sldMk cId="0" sldId="265"/>
            <ac:spMk id="7" creationId="{29FFBE78-57AD-59E0-620C-AF0F66DCF791}"/>
          </ac:spMkLst>
        </pc:spChg>
        <pc:picChg chg="mod">
          <ac:chgData name="Ryan Bains-Jordan" userId="131992209d312d3b" providerId="LiveId" clId="{03792FE3-9006-47D3-8773-C41E3BBBD2D1}" dt="2026-05-04T22:14:07.923" v="3502" actId="1076"/>
          <ac:picMkLst>
            <pc:docMk/>
            <pc:sldMk cId="0" sldId="265"/>
            <ac:picMk id="3" creationId="{00000000-0000-0000-0000-000000000000}"/>
          </ac:picMkLst>
        </pc:picChg>
      </pc:sldChg>
      <pc:sldChg chg="delSp modSp mod modNotesTx">
        <pc:chgData name="Ryan Bains-Jordan" userId="131992209d312d3b" providerId="LiveId" clId="{03792FE3-9006-47D3-8773-C41E3BBBD2D1}" dt="2026-05-04T22:40:03.066" v="5675" actId="20577"/>
        <pc:sldMkLst>
          <pc:docMk/>
          <pc:sldMk cId="0" sldId="266"/>
        </pc:sldMkLst>
        <pc:spChg chg="mod">
          <ac:chgData name="Ryan Bains-Jordan" userId="131992209d312d3b" providerId="LiveId" clId="{03792FE3-9006-47D3-8773-C41E3BBBD2D1}" dt="2026-05-04T22:37:37.364" v="5146" actId="27636"/>
          <ac:spMkLst>
            <pc:docMk/>
            <pc:sldMk cId="0" sldId="266"/>
            <ac:spMk id="6" creationId="{00000000-0000-0000-0000-000000000000}"/>
          </ac:spMkLst>
        </pc:spChg>
        <pc:spChg chg="del mod">
          <ac:chgData name="Ryan Bains-Jordan" userId="131992209d312d3b" providerId="LiveId" clId="{03792FE3-9006-47D3-8773-C41E3BBBD2D1}" dt="2026-05-04T22:36:47.828" v="5052" actId="478"/>
          <ac:spMkLst>
            <pc:docMk/>
            <pc:sldMk cId="0" sldId="266"/>
            <ac:spMk id="7" creationId="{00000000-0000-0000-0000-000000000000}"/>
          </ac:spMkLst>
        </pc:spChg>
      </pc:sldChg>
      <pc:sldChg chg="addSp modSp add mod modNotesTx">
        <pc:chgData name="Ryan Bains-Jordan" userId="131992209d312d3b" providerId="LiveId" clId="{03792FE3-9006-47D3-8773-C41E3BBBD2D1}" dt="2026-05-05T23:13:44.776" v="15895" actId="5793"/>
        <pc:sldMkLst>
          <pc:docMk/>
          <pc:sldMk cId="3377097986" sldId="267"/>
        </pc:sldMkLst>
        <pc:spChg chg="mod">
          <ac:chgData name="Ryan Bains-Jordan" userId="131992209d312d3b" providerId="LiveId" clId="{03792FE3-9006-47D3-8773-C41E3BBBD2D1}" dt="2026-05-03T03:11:43.801" v="21" actId="20577"/>
          <ac:spMkLst>
            <pc:docMk/>
            <pc:sldMk cId="3377097986" sldId="267"/>
            <ac:spMk id="4" creationId="{9CEFBD87-E988-0B58-F2C6-790BC40A0F1F}"/>
          </ac:spMkLst>
        </pc:spChg>
        <pc:spChg chg="mod">
          <ac:chgData name="Ryan Bains-Jordan" userId="131992209d312d3b" providerId="LiveId" clId="{03792FE3-9006-47D3-8773-C41E3BBBD2D1}" dt="2026-05-04T00:49:31.272" v="1889" actId="207"/>
          <ac:spMkLst>
            <pc:docMk/>
            <pc:sldMk cId="3377097986" sldId="267"/>
            <ac:spMk id="6" creationId="{441843A4-297D-BCE4-A307-7CDA9273D73D}"/>
          </ac:spMkLst>
        </pc:spChg>
        <pc:picChg chg="add mod">
          <ac:chgData name="Ryan Bains-Jordan" userId="131992209d312d3b" providerId="LiveId" clId="{03792FE3-9006-47D3-8773-C41E3BBBD2D1}" dt="2026-05-04T00:49:27.826" v="1888" actId="1076"/>
          <ac:picMkLst>
            <pc:docMk/>
            <pc:sldMk cId="3377097986" sldId="267"/>
            <ac:picMk id="8" creationId="{54037A5D-37C8-B0B1-9BBF-710E52E3B886}"/>
          </ac:picMkLst>
        </pc:picChg>
      </pc:sldChg>
      <pc:sldChg chg="add ord modNotesTx">
        <pc:chgData name="Ryan Bains-Jordan" userId="131992209d312d3b" providerId="LiveId" clId="{03792FE3-9006-47D3-8773-C41E3BBBD2D1}" dt="2026-05-05T23:10:53.633" v="15432" actId="20577"/>
        <pc:sldMkLst>
          <pc:docMk/>
          <pc:sldMk cId="1225384061" sldId="268"/>
        </pc:sldMkLst>
      </pc:sldChg>
    </pc:docChg>
  </pc:docChgLst>
  <pc:docChgLst>
    <pc:chgData name="Ryan Bains-Jordan" userId="131992209d312d3b" providerId="LiveId" clId="{13E8E118-8DCA-4C2C-9245-67250C3CF0A5}"/>
    <pc:docChg chg="modSld">
      <pc:chgData name="Ryan Bains-Jordan" userId="131992209d312d3b" providerId="LiveId" clId="{13E8E118-8DCA-4C2C-9245-67250C3CF0A5}" dt="2026-05-02T20:21:06.871" v="252" actId="20577"/>
      <pc:docMkLst>
        <pc:docMk/>
      </pc:docMkLst>
      <pc:sldChg chg="modSp mod">
        <pc:chgData name="Ryan Bains-Jordan" userId="131992209d312d3b" providerId="LiveId" clId="{13E8E118-8DCA-4C2C-9245-67250C3CF0A5}" dt="2026-05-02T20:05:03.571" v="0" actId="14100"/>
        <pc:sldMkLst>
          <pc:docMk/>
          <pc:sldMk cId="0" sldId="256"/>
        </pc:sldMkLst>
        <pc:picChg chg="mod">
          <ac:chgData name="Ryan Bains-Jordan" userId="131992209d312d3b" providerId="LiveId" clId="{13E8E118-8DCA-4C2C-9245-67250C3CF0A5}" dt="2026-05-02T20:05:03.571" v="0" actId="14100"/>
          <ac:picMkLst>
            <pc:docMk/>
            <pc:sldMk cId="0" sldId="256"/>
            <ac:picMk id="8" creationId="{46B7F035-B6E5-E7E5-B46F-7C6778B77505}"/>
          </ac:picMkLst>
        </pc:picChg>
      </pc:sldChg>
      <pc:sldChg chg="modSp mod">
        <pc:chgData name="Ryan Bains-Jordan" userId="131992209d312d3b" providerId="LiveId" clId="{13E8E118-8DCA-4C2C-9245-67250C3CF0A5}" dt="2026-05-02T20:21:06.871" v="252" actId="20577"/>
        <pc:sldMkLst>
          <pc:docMk/>
          <pc:sldMk cId="0" sldId="257"/>
        </pc:sldMkLst>
        <pc:spChg chg="mod">
          <ac:chgData name="Ryan Bains-Jordan" userId="131992209d312d3b" providerId="LiveId" clId="{13E8E118-8DCA-4C2C-9245-67250C3CF0A5}" dt="2026-05-02T20:21:06.871" v="252" actId="20577"/>
          <ac:spMkLst>
            <pc:docMk/>
            <pc:sldMk cId="0" sldId="257"/>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5F3E17E-7071-4EB1-993B-08EE9D648A12}" type="datetimeFigureOut">
              <a:t>5/5/2026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37BACA0-BA40-4672-ACD2-E1E73F3D4CA5}" type="slidenum">
              <a:t>‹#›</a:t>
            </a:fld>
            <a:endParaRPr lang="en-US"/>
          </a:p>
        </p:txBody>
      </p:sp>
    </p:spTree>
    <p:extLst>
      <p:ext uri="{BB962C8B-B14F-4D97-AF65-F5344CB8AC3E}">
        <p14:creationId xmlns:p14="http://schemas.microsoft.com/office/powerpoint/2010/main" val="3111325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capstone project is for a fictional gym called Power Plant Fitness – so aptly named because the core concept of the gym is </a:t>
            </a:r>
          </a:p>
          <a:p>
            <a:r>
              <a:rPr lang="en-US" dirty="0"/>
              <a:t>to convert workouts into real usable power through the use of resistance-based exercise machines.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goal of this gym is to provide a stronger motivation to attend than personal health and fitness goals alone.</a:t>
            </a:r>
          </a:p>
          <a:p>
            <a:r>
              <a:rPr lang="en-US" dirty="0"/>
              <a:t>Statistically speaking, almost all gyms face dropout rates of 40-65% within the first six months due to a lack of motivation.</a:t>
            </a:r>
          </a:p>
          <a:p>
            <a:r>
              <a:rPr lang="en-US" dirty="0"/>
              <a:t>So, my solution is to provide extrinsic motivation by rewarding members for using our gym equipment.</a:t>
            </a:r>
          </a:p>
          <a:p>
            <a:endParaRPr lang="en-US" dirty="0"/>
          </a:p>
          <a:p>
            <a:r>
              <a:rPr lang="en-US" dirty="0"/>
              <a:t>How do we do that?</a:t>
            </a:r>
          </a:p>
          <a:p>
            <a:r>
              <a:rPr lang="en-US" dirty="0"/>
              <a:t>Well, many modern gym machines like ellipticals, stationary bikes, and rowers already run under their own power</a:t>
            </a:r>
          </a:p>
          <a:p>
            <a:r>
              <a:rPr lang="en-US" dirty="0"/>
              <a:t>But as the user increases the resistance level and exercises for longer periods of time, the machine is creating more power than it needs to and is essentially wastes it as excess heat.</a:t>
            </a:r>
          </a:p>
          <a:p>
            <a:r>
              <a:rPr lang="en-US" dirty="0"/>
              <a:t>Instead, my idea is to connect them all onto a local grid within the gym. As the user bikes, runs, lifts, or rows, that excess energy feeds the gym’s battery system.</a:t>
            </a:r>
          </a:p>
          <a:p>
            <a:r>
              <a:rPr lang="en-US" dirty="0"/>
              <a:t>AND when they do that, we reward them for their effort by crediting the watts they generated into a currency </a:t>
            </a:r>
          </a:p>
          <a:p>
            <a:r>
              <a:rPr lang="en-US" dirty="0"/>
              <a:t>that they can spend on gym merch, vouchers for local restaurants, coupons to an in-gym juice bar, or even discounts on their membership.</a:t>
            </a:r>
          </a:p>
          <a:p>
            <a:r>
              <a:rPr lang="en-US" dirty="0"/>
              <a:t>In other words, our gym would offer the same equipment as any other gym, but ours would reward members with cheaper memberships just by being loyal and consistent. It’s a win-win.</a:t>
            </a:r>
          </a:p>
          <a:p>
            <a:endParaRPr lang="en-US" dirty="0"/>
          </a:p>
          <a:p>
            <a:r>
              <a:rPr lang="en-US" dirty="0"/>
              <a:t>At the same time, our members contribute to ecological sustainability by literally producing energy for the gym that would otherwise be drawn from the grid.</a:t>
            </a:r>
          </a:p>
          <a:p>
            <a:r>
              <a:rPr lang="en-US" dirty="0"/>
              <a:t>Of course, a dozen people on stationary bikes would not be equivalent to a wind turbine; it’s the thought that counts.</a:t>
            </a:r>
          </a:p>
          <a:p>
            <a:endParaRPr lang="en-US" dirty="0"/>
          </a:p>
          <a:p>
            <a:r>
              <a:rPr lang="en-US" dirty="0"/>
              <a:t>This project covers 3 aspects of this IoT solution</a:t>
            </a:r>
          </a:p>
          <a:p>
            <a:pPr marL="171450" indent="-171450">
              <a:buFontTx/>
              <a:buChar char="-"/>
            </a:pPr>
            <a:r>
              <a:rPr lang="en-US" dirty="0"/>
              <a:t>The signing-in solution. Users would sign in to each machine individually so that machine telemetry credits them appropriately. They’d do this with an RFID wristband – like the ones they use at Disney Parks.</a:t>
            </a:r>
          </a:p>
          <a:p>
            <a:pPr marL="171450" indent="-171450">
              <a:buFontTx/>
              <a:buChar char="-"/>
            </a:pPr>
            <a:r>
              <a:rPr lang="en-US" dirty="0"/>
              <a:t>The machine interface for an elliptical. Each machine would have the same 24 inch touchscreen but would have slightly different options depending on the type of machine</a:t>
            </a:r>
          </a:p>
          <a:p>
            <a:pPr marL="171450" indent="-171450">
              <a:buFontTx/>
              <a:buChar char="-"/>
            </a:pPr>
            <a:r>
              <a:rPr lang="en-US" dirty="0"/>
              <a:t>A python-based normalization algorithm to balance the reward crediting. I’ll talk about that more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divided into 3 main layers (Physical, Local Infrastructure, and Cloud).</a:t>
            </a:r>
          </a:p>
          <a:p>
            <a:r>
              <a:rPr lang="en-US" dirty="0"/>
              <a:t>Within the physical layer, users log into machines using an RFID tag and wristband that we’d give to them at the time of enrollment </a:t>
            </a:r>
          </a:p>
          <a:p>
            <a:r>
              <a:rPr lang="en-US" dirty="0"/>
              <a:t>or through the NFC protocol on their smartphone if they have both a compatible smartphone and the Power Plant Fitness mobile app.</a:t>
            </a:r>
          </a:p>
          <a:p>
            <a:endParaRPr lang="en-US" dirty="0"/>
          </a:p>
          <a:p>
            <a:r>
              <a:rPr lang="en-US" dirty="0"/>
              <a:t>The gym would have two types of machines – generating machines, and consuming machines.</a:t>
            </a:r>
          </a:p>
          <a:p>
            <a:pPr marL="171450" indent="-171450">
              <a:buFontTx/>
              <a:buChar char="-"/>
            </a:pPr>
            <a:r>
              <a:rPr lang="en-US" dirty="0"/>
              <a:t>Generating machines (like ellipticals, bikes, rowers, and cable-mechanized strength training machines) will all generate electricity and therefore reward members for using them.</a:t>
            </a:r>
          </a:p>
          <a:p>
            <a:pPr marL="171450" indent="-171450">
              <a:buFontTx/>
              <a:buChar char="-"/>
            </a:pPr>
            <a:r>
              <a:rPr lang="en-US" dirty="0"/>
              <a:t>Consuming machines (like treadmills and stair steppers) require a substantial amount of electricity to run, and will not reward members for using them. They are there to give variety to the gym and stay competitive with other gyms.</a:t>
            </a:r>
          </a:p>
          <a:p>
            <a:pPr marL="171450" indent="-171450">
              <a:buFontTx/>
              <a:buChar char="-"/>
            </a:pPr>
            <a:r>
              <a:rPr lang="en-US" dirty="0"/>
              <a:t>Similarly, the gym may supply free weights (like dumbbells, kettlebells, and barbells) that are not connected to any kind of machine and will not credit the user for using them.</a:t>
            </a:r>
          </a:p>
          <a:p>
            <a:pPr marL="171450" indent="-171450">
              <a:buFontTx/>
              <a:buChar char="-"/>
            </a:pPr>
            <a:endParaRPr lang="en-US" dirty="0"/>
          </a:p>
          <a:p>
            <a:pPr marL="0" indent="0">
              <a:buFontTx/>
              <a:buNone/>
            </a:pPr>
            <a:r>
              <a:rPr lang="en-US" dirty="0"/>
              <a:t>The generated electricity is stored in a localized battery system, which distributes its power to the consuming machines and the building's electrical (lights/fans/etc.) The grid will chip in if not enough power is generated.</a:t>
            </a:r>
          </a:p>
          <a:p>
            <a:pPr marL="0" indent="0">
              <a:buFontTx/>
              <a:buNone/>
            </a:pPr>
            <a:r>
              <a:rPr lang="en-US" dirty="0"/>
              <a:t>All the machines are connected to the gym network, which periodically sends data to the AWS cloud layer that both the mobile app and staff dashboards read from.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per the solution requirements, the project files, documents, and mockups are available in the GitHub repository.</a:t>
            </a:r>
          </a:p>
          <a:p>
            <a:r>
              <a:rPr lang="en-US" dirty="0"/>
              <a:t>The repository uses two </a:t>
            </a:r>
            <a:r>
              <a:rPr lang="en-US" dirty="0" err="1"/>
              <a:t>branchs</a:t>
            </a:r>
            <a:r>
              <a:rPr lang="en-US" dirty="0"/>
              <a:t>: development and main.</a:t>
            </a:r>
          </a:p>
          <a:p>
            <a:r>
              <a:rPr lang="en-US" dirty="0"/>
              <a:t>Incrementations are pushed to the development folder for review and testing.</a:t>
            </a:r>
          </a:p>
          <a:p>
            <a:r>
              <a:rPr lang="en-US" dirty="0"/>
              <a:t>Then a pull request is made to merge it into main when everything is validated.</a:t>
            </a:r>
          </a:p>
          <a:p>
            <a:r>
              <a:rPr lang="en-US" dirty="0"/>
              <a:t>The link to the repository will be listed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in this project is written in Python.</a:t>
            </a:r>
          </a:p>
          <a:p>
            <a:r>
              <a:rPr lang="en-US" dirty="0"/>
              <a:t>I decided to use JetBrains PyCharm as the development environment because I am a fan of their products and they provide an education license to use them all.</a:t>
            </a:r>
          </a:p>
          <a:p>
            <a:r>
              <a:rPr lang="en-US" dirty="0"/>
              <a:t>As mentioned, the code is available in the GitHub repository which is available through that address.</a:t>
            </a:r>
          </a:p>
          <a:p>
            <a:endParaRPr lang="en-US" dirty="0"/>
          </a:p>
          <a:p>
            <a:r>
              <a:rPr lang="en-US" dirty="0"/>
              <a:t>The Python code is for a program called watt_calculator.py which helps normalize the reward system so that it isn’t biased to those who are more physically fit.</a:t>
            </a:r>
          </a:p>
          <a:p>
            <a:r>
              <a:rPr lang="en-US" dirty="0"/>
              <a:t>I’ll dive into how that will work later in the video.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picture walking up to an elliptical after enrolling in a membership at this gym, picture a large touchscreen dominating the front of the machine.</a:t>
            </a:r>
          </a:p>
          <a:p>
            <a:r>
              <a:rPr lang="en-US" dirty="0"/>
              <a:t>On that touchscreen will show something like this, instructing the user to tap their wristband or phone to a receiver somewhere on the machine.</a:t>
            </a:r>
          </a:p>
          <a:p>
            <a:r>
              <a:rPr lang="en-US" dirty="0"/>
              <a:t>Doing this, will sign them into the machine automatically.</a:t>
            </a:r>
          </a:p>
          <a:p>
            <a:r>
              <a:rPr lang="en-US" dirty="0"/>
              <a:t>They won’t have to type anything or remember a password. All that is stored on the encrypted RFID tag.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signed in, they would see a screen like this. This is the ellipticals’ home screen and there are a variety of things the user can do on it.</a:t>
            </a:r>
          </a:p>
          <a:p>
            <a:r>
              <a:rPr lang="en-US" dirty="0"/>
              <a:t>For example, they can see a few statistics on how much energy they generated while at the gym.</a:t>
            </a:r>
          </a:p>
          <a:p>
            <a:r>
              <a:rPr lang="en-US" dirty="0"/>
              <a:t>They can also enroll in weekly challenges and compete in leaderboards.</a:t>
            </a:r>
          </a:p>
          <a:p>
            <a:r>
              <a:rPr lang="en-US" dirty="0"/>
              <a:t>They can also visit the gym store by tapping their balance below their profile. This balance accumulates as they continue to use a generating machine at the gym.</a:t>
            </a:r>
          </a:p>
          <a:p>
            <a:r>
              <a:rPr lang="en-US" dirty="0"/>
              <a:t>The currency in this case is in the form of wattage. For example, a lanyard may cost 450watts and this user has 847 in their “Watt Wallet” to spend.</a:t>
            </a:r>
          </a:p>
          <a:p>
            <a:r>
              <a:rPr lang="en-US" dirty="0"/>
              <a:t>They can also stream from popular music and streaming services right from the machine</a:t>
            </a:r>
          </a:p>
          <a:p>
            <a:r>
              <a:rPr lang="en-US" dirty="0"/>
              <a:t>And of course, they can start </a:t>
            </a:r>
            <a:r>
              <a:rPr lang="en-US" dirty="0" err="1"/>
              <a:t>workingout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user taps “Start Workout” they would get to this screen.</a:t>
            </a:r>
          </a:p>
          <a:p>
            <a:r>
              <a:rPr lang="en-US" dirty="0"/>
              <a:t>This gives them the opportunity to select a pre-defined workout or click “Start” to start </a:t>
            </a:r>
            <a:r>
              <a:rPr lang="en-US" dirty="0" err="1"/>
              <a:t>pedalling</a:t>
            </a:r>
            <a:r>
              <a:rPr lang="en-US" dirty="0"/>
              <a:t> right away. </a:t>
            </a:r>
          </a:p>
          <a:p>
            <a:r>
              <a:rPr lang="en-US" dirty="0"/>
              <a:t>They will still earning credit right away based on how long they use the machine and which resistance level, among other things.</a:t>
            </a:r>
          </a:p>
          <a:p>
            <a:r>
              <a:rPr lang="en-US" dirty="0"/>
              <a:t>The icons in each of the pre-defined workouts show the intensity level, how long it would take, and roughly how many watts the user can generate from doing it.</a:t>
            </a:r>
          </a:p>
          <a:p>
            <a:r>
              <a:rPr lang="en-US" dirty="0"/>
              <a:t>Watt-Farmer workouts are intense workouts intended for those who want to maximize their rewards while on the machine.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D20EF-904C-3F21-DF8C-1F497B401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67B21-E608-5FCF-8B37-AF4F52238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A8ADE-5268-B23C-0E76-26C1E585B4BE}"/>
              </a:ext>
            </a:extLst>
          </p:cNvPr>
          <p:cNvSpPr>
            <a:spLocks noGrp="1"/>
          </p:cNvSpPr>
          <p:nvPr>
            <p:ph type="body" idx="1"/>
          </p:nvPr>
        </p:nvSpPr>
        <p:spPr/>
        <p:txBody>
          <a:bodyPr/>
          <a:lstStyle/>
          <a:p>
            <a:r>
              <a:rPr lang="en-US" dirty="0"/>
              <a:t>Let’s go back to the home screen.</a:t>
            </a:r>
          </a:p>
        </p:txBody>
      </p:sp>
      <p:sp>
        <p:nvSpPr>
          <p:cNvPr id="4" name="Slide Number Placeholder 3">
            <a:extLst>
              <a:ext uri="{FF2B5EF4-FFF2-40B4-BE49-F238E27FC236}">
                <a16:creationId xmlns:a16="http://schemas.microsoft.com/office/drawing/2014/main" id="{42A1F6FC-3F95-6D99-EEB8-369AA0CFD6C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66543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891BA-E7F8-7326-F997-A9121FD2E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78FDE-998B-092A-B499-014120C14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AA3ED-3F26-B5A9-A677-4F6952B0A405}"/>
              </a:ext>
            </a:extLst>
          </p:cNvPr>
          <p:cNvSpPr>
            <a:spLocks noGrp="1"/>
          </p:cNvSpPr>
          <p:nvPr>
            <p:ph type="body" idx="1"/>
          </p:nvPr>
        </p:nvSpPr>
        <p:spPr/>
        <p:txBody>
          <a:bodyPr/>
          <a:lstStyle/>
          <a:p>
            <a:r>
              <a:rPr lang="en-US" dirty="0"/>
              <a:t>If the user taps the “Media” button they will be shown this screen where they can pick from a variety of music, streaming, and audio services to watch or listen to while they are working out.</a:t>
            </a:r>
          </a:p>
          <a:p>
            <a:r>
              <a:rPr lang="en-US" dirty="0"/>
              <a:t>The plan is for a single-sign-on experience where the user will only need to sign-on to their favorite app once…and they will stay logged in even when switching machines.</a:t>
            </a:r>
          </a:p>
        </p:txBody>
      </p:sp>
      <p:sp>
        <p:nvSpPr>
          <p:cNvPr id="4" name="Slide Number Placeholder 3">
            <a:extLst>
              <a:ext uri="{FF2B5EF4-FFF2-40B4-BE49-F238E27FC236}">
                <a16:creationId xmlns:a16="http://schemas.microsoft.com/office/drawing/2014/main" id="{984A4AD0-BBE2-ABD0-2DA2-6D0A1AD452A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24971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code for the watt calculator.</a:t>
            </a:r>
          </a:p>
          <a:p>
            <a:r>
              <a:rPr lang="en-US" dirty="0"/>
              <a:t>One ethical problem that arises when rewarding currency for generating wattage energy on a 1:1 level is that those who are physically fit will earn far more credit than someone who is just starting. </a:t>
            </a:r>
          </a:p>
          <a:p>
            <a:r>
              <a:rPr lang="en-US" dirty="0"/>
              <a:t>This system tends to favor those who are already fit, which becomes demotivating for those who are trying to become healthier and more physically active.</a:t>
            </a:r>
          </a:p>
          <a:p>
            <a:r>
              <a:rPr lang="en-US" dirty="0"/>
              <a:t>The solution is not to reward users with wattage credits on a 1-to-1 basis, but instead to calculate a fair reward based on several metrics.</a:t>
            </a:r>
          </a:p>
          <a:p>
            <a:endParaRPr lang="en-US" dirty="0"/>
          </a:p>
          <a:p>
            <a:r>
              <a:rPr lang="en-US" dirty="0"/>
              <a:t>In this case, the gym will look at 4 things to calculate a suitable reward:</a:t>
            </a:r>
          </a:p>
          <a:p>
            <a:pPr marL="171450" indent="-171450">
              <a:buFontTx/>
              <a:buChar char="-"/>
            </a:pPr>
            <a:r>
              <a:rPr lang="en-US" dirty="0"/>
              <a:t>How much wattage that the user generated</a:t>
            </a:r>
          </a:p>
          <a:p>
            <a:pPr marL="171450" indent="-171450">
              <a:buFontTx/>
              <a:buChar char="-"/>
            </a:pPr>
            <a:r>
              <a:rPr lang="en-US" dirty="0"/>
              <a:t>How long they were actively exercising on the machine</a:t>
            </a:r>
          </a:p>
          <a:p>
            <a:pPr marL="171450" indent="-171450">
              <a:buFontTx/>
              <a:buChar char="-"/>
            </a:pPr>
            <a:r>
              <a:rPr lang="en-US" dirty="0"/>
              <a:t>Which resistance level they set on the machine</a:t>
            </a:r>
          </a:p>
          <a:p>
            <a:pPr marL="171450" indent="-171450">
              <a:buFontTx/>
              <a:buChar char="-"/>
            </a:pPr>
            <a:r>
              <a:rPr lang="en-US" dirty="0"/>
              <a:t>A historical average of how many watts they generated over a pre-determined amount of time.</a:t>
            </a:r>
          </a:p>
          <a:p>
            <a:pPr marL="171450" indent="-171450">
              <a:buFontTx/>
              <a:buChar char="-"/>
            </a:pPr>
            <a:r>
              <a:rPr lang="en-US" dirty="0"/>
              <a:t>There may also be another metric that measures the frequency of visits later in development</a:t>
            </a:r>
          </a:p>
          <a:p>
            <a:pPr marL="171450" indent="-171450">
              <a:buFontTx/>
              <a:buChar char="-"/>
            </a:pPr>
            <a:endParaRPr lang="en-US" dirty="0"/>
          </a:p>
          <a:p>
            <a:pPr marL="0" indent="0">
              <a:buFontTx/>
              <a:buNone/>
            </a:pPr>
            <a:r>
              <a:rPr lang="en-US" dirty="0"/>
              <a:t>This future algorithm should balance effort so that someone who is consistently going to the gym several times a week and working hard will achieve similar rewards to someone who is doing a power-workout once a week to maximize credit.</a:t>
            </a:r>
          </a:p>
          <a:p>
            <a:pPr marL="0" indent="0">
              <a:buFontTx/>
              <a:buNone/>
            </a:pPr>
            <a:endParaRPr lang="en-US" dirty="0"/>
          </a:p>
          <a:p>
            <a:pPr marL="0" indent="0">
              <a:buFontTx/>
              <a:buNone/>
            </a:pPr>
            <a:r>
              <a:rPr lang="en-US" dirty="0"/>
              <a:t>Right now the algorithm hasn’t been developed yet, but it will be for Unit 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shown earlier, there are three layers to this system: Physical, Local Infrastructure, and Cloud</a:t>
            </a:r>
          </a:p>
          <a:p>
            <a:r>
              <a:rPr lang="en-US" dirty="0"/>
              <a:t>These layers essentially guided all of the decisions on how devices would communicate to each other quickly and effectively</a:t>
            </a:r>
          </a:p>
          <a:p>
            <a:r>
              <a:rPr lang="en-US" dirty="0"/>
              <a:t>The module designs that I set out to create shaped how each deliverable was created.</a:t>
            </a:r>
          </a:p>
          <a:p>
            <a:r>
              <a:rPr lang="en-US" dirty="0"/>
              <a:t>For example, the RFID/NFC authentication module helped me design the tap-in screen</a:t>
            </a:r>
          </a:p>
          <a:p>
            <a:r>
              <a:rPr lang="en-US" dirty="0"/>
              <a:t>The reward calculation module became watt_calculator.py and so on</a:t>
            </a:r>
          </a:p>
          <a:p>
            <a:r>
              <a:rPr lang="en-US" dirty="0"/>
              <a:t>Security and ethics were built into the design of the modules instead of considering it as an after thought</a:t>
            </a:r>
          </a:p>
          <a:p>
            <a:r>
              <a:rPr lang="en-US" dirty="0"/>
              <a:t>As an example, the normalization algorithm is there specifically to make the reward system more ethical and fair</a:t>
            </a:r>
          </a:p>
          <a:p>
            <a:r>
              <a:rPr lang="en-US" dirty="0"/>
              <a:t>Finally the Git two-branch architecture mirrors real commercial workflows and they were integrated into this project all the same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my project so far.</a:t>
            </a:r>
          </a:p>
          <a:p>
            <a:r>
              <a:rPr lang="en-US" dirty="0"/>
              <a:t>In the next few units, I will </a:t>
            </a:r>
          </a:p>
          <a:p>
            <a:pPr marL="171450" indent="-171450">
              <a:buFont typeface="Arial" panose="020B0604020202020204" pitchFamily="34" charset="0"/>
              <a:buChar char="•"/>
            </a:pPr>
            <a:r>
              <a:rPr lang="en-US" dirty="0"/>
              <a:t>finish the mockups for the elliptical machine interface</a:t>
            </a:r>
          </a:p>
          <a:p>
            <a:pPr marL="171450" indent="-171450">
              <a:buFont typeface="Arial" panose="020B0604020202020204" pitchFamily="34" charset="0"/>
              <a:buChar char="•"/>
            </a:pPr>
            <a:r>
              <a:rPr lang="en-US" dirty="0"/>
              <a:t>Finish the wattage normalization algorithm</a:t>
            </a:r>
          </a:p>
          <a:p>
            <a:pPr marL="171450" indent="-171450">
              <a:buFont typeface="Arial" panose="020B0604020202020204" pitchFamily="34" charset="0"/>
              <a:buChar char="•"/>
            </a:pPr>
            <a:r>
              <a:rPr lang="en-US" dirty="0"/>
              <a:t>Develop an integration plan, run some evaluation metrics on the algorithm and document it all</a:t>
            </a:r>
          </a:p>
          <a:p>
            <a:pPr marL="171450" indent="-171450">
              <a:buFont typeface="Arial" panose="020B0604020202020204" pitchFamily="34" charset="0"/>
              <a:buChar char="•"/>
            </a:pPr>
            <a:r>
              <a:rPr lang="en-US" dirty="0"/>
              <a:t>I’ll also later run some system tests and develop a maintenance plan</a:t>
            </a:r>
          </a:p>
          <a:p>
            <a:pPr marL="171450" indent="-171450">
              <a:buFont typeface="Arial" panose="020B0604020202020204" pitchFamily="34" charset="0"/>
              <a:buChar char="•"/>
            </a:pPr>
            <a:r>
              <a:rPr lang="en-US" dirty="0"/>
              <a:t>Finally, when all is said and done, I will assemble all of the pieces into a final report and present it</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Thank you for watching!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hyperlink" Target="https://github.com/RyanBJ/capston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9F5"/>
        </a:solidFill>
        <a:effectLst/>
      </p:bgPr>
    </p:bg>
    <p:spTree>
      <p:nvGrpSpPr>
        <p:cNvPr id="1" name=""/>
        <p:cNvGrpSpPr/>
        <p:nvPr/>
      </p:nvGrpSpPr>
      <p:grpSpPr>
        <a:xfrm>
          <a:off x="0" y="0"/>
          <a:ext cx="0" cy="0"/>
          <a:chOff x="0" y="0"/>
          <a:chExt cx="0" cy="0"/>
        </a:xfrm>
      </p:grpSpPr>
      <p:pic>
        <p:nvPicPr>
          <p:cNvPr id="8" name="Picture 7" descr="A solar panels and wind turbines in a field&#10;&#10;AI-generated content may be incorrect.">
            <a:extLst>
              <a:ext uri="{FF2B5EF4-FFF2-40B4-BE49-F238E27FC236}">
                <a16:creationId xmlns:a16="http://schemas.microsoft.com/office/drawing/2014/main" id="{46B7F035-B6E5-E7E5-B46F-7C6778B77505}"/>
              </a:ext>
            </a:extLst>
          </p:cNvPr>
          <p:cNvPicPr>
            <a:picLocks noChangeAspect="1"/>
          </p:cNvPicPr>
          <p:nvPr/>
        </p:nvPicPr>
        <p:blipFill>
          <a:blip r:embed="rId3"/>
          <a:stretch>
            <a:fillRect/>
          </a:stretch>
        </p:blipFill>
        <p:spPr>
          <a:xfrm>
            <a:off x="-17443" y="-293268"/>
            <a:ext cx="9183114" cy="5685883"/>
          </a:xfrm>
          <a:prstGeom prst="rect">
            <a:avLst/>
          </a:prstGeom>
        </p:spPr>
      </p:pic>
      <p:sp>
        <p:nvSpPr>
          <p:cNvPr id="5" name="Text 1"/>
          <p:cNvSpPr/>
          <p:nvPr/>
        </p:nvSpPr>
        <p:spPr>
          <a:xfrm>
            <a:off x="914400" y="354330"/>
            <a:ext cx="7315200" cy="1097280"/>
          </a:xfrm>
          <a:prstGeom prst="rect">
            <a:avLst/>
          </a:prstGeom>
          <a:noFill/>
          <a:ln/>
        </p:spPr>
        <p:txBody>
          <a:bodyPr wrap="square" lIns="0" tIns="0" rIns="0" bIns="0" rtlCol="0" anchor="ctr"/>
          <a:lstStyle/>
          <a:p>
            <a:pPr marL="0" indent="0" algn="ctr">
              <a:buNone/>
            </a:pPr>
            <a:r>
              <a:rPr lang="en-US" sz="4200" b="1" dirty="0">
                <a:solidFill>
                  <a:srgbClr val="3D6B4F"/>
                </a:solidFill>
                <a:latin typeface="Georgia" pitchFamily="34" charset="0"/>
                <a:ea typeface="Georgia" pitchFamily="34" charset="-122"/>
                <a:cs typeface="Georgia" pitchFamily="34" charset="-120"/>
              </a:rPr>
              <a:t>Power Plant Fitness</a:t>
            </a:r>
            <a:endParaRPr lang="en-US" sz="4200" dirty="0"/>
          </a:p>
        </p:txBody>
      </p:sp>
      <p:sp>
        <p:nvSpPr>
          <p:cNvPr id="6" name="Text 2"/>
          <p:cNvSpPr/>
          <p:nvPr/>
        </p:nvSpPr>
        <p:spPr>
          <a:xfrm>
            <a:off x="914400" y="1451610"/>
            <a:ext cx="7315200" cy="548640"/>
          </a:xfrm>
          <a:prstGeom prst="rect">
            <a:avLst/>
          </a:prstGeom>
          <a:noFill/>
          <a:ln/>
        </p:spPr>
        <p:txBody>
          <a:bodyPr wrap="square" lIns="0" tIns="0" rIns="0" bIns="0" rtlCol="0" anchor="t"/>
          <a:lstStyle/>
          <a:p>
            <a:pPr marL="0" indent="0" algn="ctr">
              <a:buNone/>
            </a:pPr>
            <a:r>
              <a:rPr lang="en-US" sz="2000" i="1" dirty="0">
                <a:solidFill>
                  <a:srgbClr val="5A8F7B"/>
                </a:solidFill>
                <a:latin typeface="Calibri" pitchFamily="34" charset="0"/>
                <a:ea typeface="Calibri" pitchFamily="34" charset="-122"/>
                <a:cs typeface="Calibri" pitchFamily="34" charset="-120"/>
              </a:rPr>
              <a:t>An IoT-Powered Smart Gym</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745" y="3318151"/>
            <a:ext cx="1828800" cy="1828800"/>
          </a:xfrm>
          <a:prstGeom prst="rect">
            <a:avLst/>
          </a:prstGeom>
        </p:spPr>
      </p:pic>
      <p:sp>
        <p:nvSpPr>
          <p:cNvPr id="4" name="Shape 0"/>
          <p:cNvSpPr/>
          <p:nvPr/>
        </p:nvSpPr>
        <p:spPr>
          <a:xfrm>
            <a:off x="0" y="0"/>
            <a:ext cx="9144000" cy="868680"/>
          </a:xfrm>
          <a:prstGeom prst="rect">
            <a:avLst/>
          </a:prstGeom>
          <a:solidFill>
            <a:srgbClr val="EEF4EE"/>
          </a:solidFill>
          <a:ln/>
        </p:spPr>
        <p:txBody>
          <a:bodyPr/>
          <a:lstStyle/>
          <a:p>
            <a:endParaRPr lang="en-US"/>
          </a:p>
        </p:txBody>
      </p:sp>
      <p:sp>
        <p:nvSpPr>
          <p:cNvPr id="5" name="Text 1"/>
          <p:cNvSpPr/>
          <p:nvPr/>
        </p:nvSpPr>
        <p:spPr>
          <a:xfrm>
            <a:off x="640080" y="109728"/>
            <a:ext cx="7772400" cy="640080"/>
          </a:xfrm>
          <a:prstGeom prst="rect">
            <a:avLst/>
          </a:prstGeom>
          <a:noFill/>
          <a:ln/>
        </p:spPr>
        <p:txBody>
          <a:bodyPr wrap="square" lIns="0" tIns="0" rIns="0" bIns="0" rtlCol="0" anchor="ctr"/>
          <a:lstStyle/>
          <a:p>
            <a:pPr marL="0" indent="0" algn="l">
              <a:buNone/>
            </a:pPr>
            <a:r>
              <a:rPr lang="en-US" sz="2800" b="1" dirty="0">
                <a:solidFill>
                  <a:srgbClr val="3D6B4F"/>
                </a:solidFill>
                <a:latin typeface="Georgia" pitchFamily="34" charset="0"/>
                <a:ea typeface="Georgia" pitchFamily="34" charset="-122"/>
                <a:cs typeface="Georgia" pitchFamily="34" charset="-120"/>
              </a:rPr>
              <a:t>Project Introduction</a:t>
            </a:r>
            <a:endParaRPr lang="en-US" sz="2800" dirty="0"/>
          </a:p>
        </p:txBody>
      </p:sp>
      <p:sp>
        <p:nvSpPr>
          <p:cNvPr id="6" name="Text 2"/>
          <p:cNvSpPr/>
          <p:nvPr/>
        </p:nvSpPr>
        <p:spPr>
          <a:xfrm>
            <a:off x="822960" y="1143000"/>
            <a:ext cx="6583680" cy="3135702"/>
          </a:xfrm>
          <a:prstGeom prst="rect">
            <a:avLst/>
          </a:prstGeom>
          <a:noFill/>
          <a:ln/>
        </p:spPr>
        <p:txBody>
          <a:bodyPr wrap="square" rtlCol="0" anchor="t">
            <a:normAutofit fontScale="85000" lnSpcReduction="20000"/>
          </a:bodyPr>
          <a:lstStyle/>
          <a:p>
            <a:pPr algn="l">
              <a:lnSpc>
                <a:spcPct val="115000"/>
              </a:lnSpc>
              <a:spcAft>
                <a:spcPts val="1000"/>
              </a:spcAft>
              <a:buSzPct val="100000"/>
            </a:pPr>
            <a:r>
              <a:rPr lang="en-US" sz="1500" dirty="0">
                <a:solidFill>
                  <a:srgbClr val="2D3B2D"/>
                </a:solidFill>
                <a:latin typeface="Calibri" pitchFamily="34" charset="0"/>
                <a:ea typeface="Calibri" pitchFamily="34" charset="-122"/>
                <a:cs typeface="Calibri" pitchFamily="34" charset="-120"/>
              </a:rPr>
              <a:t>Power Plant Fitness: A fictional smart gym concept designed as an IoT-integrated business management system</a:t>
            </a:r>
          </a:p>
          <a:p>
            <a:pPr marL="285750" indent="-285750" algn="l">
              <a:lnSpc>
                <a:spcPct val="115000"/>
              </a:lnSpc>
              <a:spcAft>
                <a:spcPts val="1000"/>
              </a:spcAft>
              <a:buSzPct val="100000"/>
              <a:buFont typeface="Arial" panose="020B0604020202020204" pitchFamily="34" charset="0"/>
              <a:buChar char="•"/>
            </a:pPr>
            <a:r>
              <a:rPr lang="en-US" sz="1500" b="1" dirty="0">
                <a:solidFill>
                  <a:srgbClr val="2D3B2D"/>
                </a:solidFill>
                <a:latin typeface="Calibri" pitchFamily="34" charset="0"/>
                <a:ea typeface="Calibri" pitchFamily="34" charset="-122"/>
                <a:cs typeface="Calibri" pitchFamily="34" charset="-120"/>
              </a:rPr>
              <a:t>Problem</a:t>
            </a:r>
            <a:r>
              <a:rPr lang="en-US" sz="1500" dirty="0">
                <a:solidFill>
                  <a:srgbClr val="2D3B2D"/>
                </a:solidFill>
                <a:latin typeface="Calibri" pitchFamily="34" charset="0"/>
                <a:ea typeface="Calibri" pitchFamily="34" charset="-122"/>
                <a:cs typeface="Calibri" pitchFamily="34" charset="-120"/>
              </a:rPr>
              <a:t>: Gym member dropout rates of 40-65% within the first six months due to insufficient motivational infrastructure</a:t>
            </a:r>
            <a:r>
              <a:rPr lang="en-US" sz="1500" baseline="30000" dirty="0">
                <a:solidFill>
                  <a:srgbClr val="2D3B2D"/>
                </a:solidFill>
                <a:latin typeface="Calibri" pitchFamily="34" charset="0"/>
                <a:ea typeface="Calibri" pitchFamily="34" charset="-122"/>
                <a:cs typeface="Calibri" pitchFamily="34" charset="-120"/>
              </a:rPr>
              <a:t>1</a:t>
            </a:r>
            <a:r>
              <a:rPr lang="en-US" sz="1500" dirty="0">
                <a:solidFill>
                  <a:srgbClr val="2D3B2D"/>
                </a:solidFill>
                <a:latin typeface="Calibri" pitchFamily="34" charset="0"/>
                <a:ea typeface="Calibri" pitchFamily="34" charset="-122"/>
                <a:cs typeface="Calibri" pitchFamily="34" charset="-120"/>
              </a:rPr>
              <a:t>.</a:t>
            </a:r>
          </a:p>
          <a:p>
            <a:pPr marL="285750" indent="-285750" algn="l">
              <a:lnSpc>
                <a:spcPct val="115000"/>
              </a:lnSpc>
              <a:spcAft>
                <a:spcPts val="1000"/>
              </a:spcAft>
              <a:buSzPct val="100000"/>
              <a:buFont typeface="Arial" panose="020B0604020202020204" pitchFamily="34" charset="0"/>
              <a:buChar char="•"/>
            </a:pPr>
            <a:r>
              <a:rPr lang="en-US" sz="1500" b="1" dirty="0">
                <a:solidFill>
                  <a:srgbClr val="2D3B2D"/>
                </a:solidFill>
                <a:latin typeface="Calibri" pitchFamily="34" charset="0"/>
                <a:ea typeface="Calibri" pitchFamily="34" charset="-122"/>
                <a:cs typeface="Calibri" pitchFamily="34" charset="-120"/>
              </a:rPr>
              <a:t>Solution</a:t>
            </a:r>
            <a:r>
              <a:rPr lang="en-US" sz="1500" dirty="0">
                <a:solidFill>
                  <a:srgbClr val="2D3B2D"/>
                </a:solidFill>
                <a:latin typeface="Calibri" pitchFamily="34" charset="0"/>
                <a:ea typeface="Calibri" pitchFamily="34" charset="-122"/>
                <a:cs typeface="Calibri" pitchFamily="34" charset="-120"/>
              </a:rPr>
              <a:t>: Exercise machines act as micro-generators, converting physical effort into usable energy that can be redeemed for rewards</a:t>
            </a:r>
          </a:p>
          <a:p>
            <a:pPr marL="285750" indent="-285750" algn="l">
              <a:lnSpc>
                <a:spcPct val="115000"/>
              </a:lnSpc>
              <a:spcAft>
                <a:spcPts val="1000"/>
              </a:spcAft>
              <a:buSzPct val="100000"/>
              <a:buFont typeface="Arial" panose="020B0604020202020204" pitchFamily="34" charset="0"/>
              <a:buChar char="•"/>
            </a:pPr>
            <a:r>
              <a:rPr lang="en-US" sz="1500" b="1" dirty="0">
                <a:solidFill>
                  <a:srgbClr val="2D3B2D"/>
                </a:solidFill>
                <a:latin typeface="Calibri" pitchFamily="34" charset="0"/>
                <a:ea typeface="Calibri" pitchFamily="34" charset="-122"/>
                <a:cs typeface="Calibri" pitchFamily="34" charset="-120"/>
              </a:rPr>
              <a:t>Target Users</a:t>
            </a:r>
            <a:r>
              <a:rPr lang="en-US" sz="1500" dirty="0">
                <a:solidFill>
                  <a:srgbClr val="2D3B2D"/>
                </a:solidFill>
                <a:latin typeface="Calibri" pitchFamily="34" charset="0"/>
                <a:ea typeface="Calibri" pitchFamily="34" charset="-122"/>
                <a:cs typeface="Calibri" pitchFamily="34" charset="-120"/>
              </a:rPr>
              <a:t>: Gym members (primary) and staff (administrative)</a:t>
            </a:r>
            <a:endParaRPr lang="en-US" sz="1500" b="1" dirty="0">
              <a:solidFill>
                <a:srgbClr val="2D3B2D"/>
              </a:solidFill>
              <a:latin typeface="Calibri" pitchFamily="34" charset="0"/>
              <a:ea typeface="Calibri" pitchFamily="34" charset="-122"/>
              <a:cs typeface="Calibri" pitchFamily="34" charset="-120"/>
            </a:endParaRPr>
          </a:p>
          <a:p>
            <a:pPr marL="285750" indent="-285750" algn="l">
              <a:lnSpc>
                <a:spcPct val="115000"/>
              </a:lnSpc>
              <a:spcAft>
                <a:spcPts val="1000"/>
              </a:spcAft>
              <a:buSzPct val="100000"/>
              <a:buFont typeface="Arial" panose="020B0604020202020204" pitchFamily="34" charset="0"/>
              <a:buChar char="•"/>
            </a:pPr>
            <a:r>
              <a:rPr lang="en-US" sz="1500" b="1" dirty="0">
                <a:solidFill>
                  <a:srgbClr val="2D3B2D"/>
                </a:solidFill>
                <a:latin typeface="Calibri" pitchFamily="34" charset="0"/>
                <a:ea typeface="Calibri" pitchFamily="34" charset="-122"/>
                <a:cs typeface="Calibri" pitchFamily="34" charset="-120"/>
              </a:rPr>
              <a:t>Main Modules</a:t>
            </a:r>
            <a:r>
              <a:rPr lang="en-US" sz="1500" dirty="0">
                <a:solidFill>
                  <a:srgbClr val="2D3B2D"/>
                </a:solidFill>
                <a:latin typeface="Calibri" pitchFamily="34" charset="0"/>
                <a:ea typeface="Calibri" pitchFamily="34" charset="-122"/>
                <a:cs typeface="Calibri" pitchFamily="34" charset="-120"/>
              </a:rPr>
              <a:t>:</a:t>
            </a:r>
          </a:p>
          <a:p>
            <a:pPr marL="742950" lvl="1" indent="-285750">
              <a:lnSpc>
                <a:spcPct val="115000"/>
              </a:lnSpc>
              <a:spcAft>
                <a:spcPts val="1000"/>
              </a:spcAft>
              <a:buSzPct val="100000"/>
              <a:buFont typeface="Arial" panose="020B0604020202020204" pitchFamily="34" charset="0"/>
              <a:buChar char="•"/>
            </a:pPr>
            <a:r>
              <a:rPr lang="en-US" sz="1500" dirty="0">
                <a:solidFill>
                  <a:srgbClr val="2D3B2D"/>
                </a:solidFill>
                <a:latin typeface="Calibri" pitchFamily="34" charset="0"/>
                <a:ea typeface="Calibri" pitchFamily="34" charset="-122"/>
                <a:cs typeface="Calibri" pitchFamily="34" charset="-120"/>
              </a:rPr>
              <a:t>RFID/NFC Authentication</a:t>
            </a:r>
          </a:p>
          <a:p>
            <a:pPr marL="742950" lvl="1" indent="-285750">
              <a:lnSpc>
                <a:spcPct val="115000"/>
              </a:lnSpc>
              <a:spcAft>
                <a:spcPts val="1000"/>
              </a:spcAft>
              <a:buSzPct val="100000"/>
              <a:buFont typeface="Arial" panose="020B0604020202020204" pitchFamily="34" charset="0"/>
              <a:buChar char="•"/>
            </a:pPr>
            <a:r>
              <a:rPr lang="en-US" sz="1500" dirty="0">
                <a:solidFill>
                  <a:srgbClr val="2D3B2D"/>
                </a:solidFill>
                <a:latin typeface="Calibri" pitchFamily="34" charset="0"/>
                <a:ea typeface="Calibri" pitchFamily="34" charset="-122"/>
                <a:cs typeface="Calibri" pitchFamily="34" charset="-120"/>
              </a:rPr>
              <a:t>Machine Interface (touchscreen UI)</a:t>
            </a:r>
          </a:p>
          <a:p>
            <a:pPr marL="742950" lvl="1" indent="-285750">
              <a:lnSpc>
                <a:spcPct val="115000"/>
              </a:lnSpc>
              <a:spcAft>
                <a:spcPts val="1000"/>
              </a:spcAft>
              <a:buSzPct val="100000"/>
              <a:buFont typeface="Arial" panose="020B0604020202020204" pitchFamily="34" charset="0"/>
              <a:buChar char="•"/>
            </a:pPr>
            <a:r>
              <a:rPr lang="en-US" sz="1500" dirty="0">
                <a:solidFill>
                  <a:srgbClr val="2D3B2D"/>
                </a:solidFill>
                <a:latin typeface="Calibri" pitchFamily="34" charset="0"/>
                <a:ea typeface="Calibri" pitchFamily="34" charset="-122"/>
                <a:cs typeface="Calibri" pitchFamily="34" charset="-120"/>
              </a:rPr>
              <a:t>Python-based normalization algorithm for calculating reward credit</a:t>
            </a:r>
            <a:endParaRPr lang="en-US" sz="1500" dirty="0"/>
          </a:p>
        </p:txBody>
      </p:sp>
      <p:pic>
        <p:nvPicPr>
          <p:cNvPr id="2" name="Image 0" descr="preencoded.png"/>
          <p:cNvPicPr>
            <a:picLocks noChangeAspect="1"/>
          </p:cNvPicPr>
          <p:nvPr/>
        </p:nvPicPr>
        <p:blipFill>
          <a:blip r:embed="rId4"/>
          <a:stretch>
            <a:fillRect/>
          </a:stretch>
        </p:blipFill>
        <p:spPr>
          <a:xfrm>
            <a:off x="7314769" y="431"/>
            <a:ext cx="1828800" cy="1828800"/>
          </a:xfrm>
          <a:prstGeom prst="rect">
            <a:avLst/>
          </a:prstGeom>
        </p:spPr>
      </p:pic>
      <p:sp>
        <p:nvSpPr>
          <p:cNvPr id="7" name="TextBox 6">
            <a:extLst>
              <a:ext uri="{FF2B5EF4-FFF2-40B4-BE49-F238E27FC236}">
                <a16:creationId xmlns:a16="http://schemas.microsoft.com/office/drawing/2014/main" id="{582D5C64-75A4-CADC-A638-AA7FB2C138CB}"/>
              </a:ext>
            </a:extLst>
          </p:cNvPr>
          <p:cNvSpPr txBox="1"/>
          <p:nvPr/>
        </p:nvSpPr>
        <p:spPr>
          <a:xfrm>
            <a:off x="822960" y="4289946"/>
            <a:ext cx="6564574" cy="707886"/>
          </a:xfrm>
          <a:prstGeom prst="rect">
            <a:avLst/>
          </a:prstGeom>
          <a:noFill/>
        </p:spPr>
        <p:txBody>
          <a:bodyPr wrap="square" rtlCol="0">
            <a:spAutoFit/>
          </a:bodyPr>
          <a:lstStyle/>
          <a:p>
            <a:r>
              <a:rPr lang="en-US" sz="1000" dirty="0"/>
              <a:t>1. Gjestvang, C., Tangen, E. M., Arntzen, M. B., &amp; </a:t>
            </a:r>
            <a:r>
              <a:rPr lang="en-US" sz="1000" dirty="0" err="1"/>
              <a:t>Haakstad</a:t>
            </a:r>
            <a:r>
              <a:rPr lang="en-US" sz="1000" dirty="0"/>
              <a:t>, L. A. (2023). </a:t>
            </a:r>
            <a:r>
              <a:rPr lang="en-US" sz="1000" i="1" dirty="0"/>
              <a:t>How do fitness club members differentiate in background characteristics, exercise motivation, and social support?</a:t>
            </a:r>
            <a:r>
              <a:rPr lang="en-US" sz="1000" dirty="0"/>
              <a:t> A cross-sectional study. Journal of sports science &amp; medicine, 22(2), 235.</a:t>
            </a:r>
          </a:p>
          <a:p>
            <a:endParaRPr lang="en-US" sz="1000" dirty="0"/>
          </a:p>
        </p:txBody>
      </p:sp>
      <p:cxnSp>
        <p:nvCxnSpPr>
          <p:cNvPr id="9" name="Straight Connector 8">
            <a:extLst>
              <a:ext uri="{FF2B5EF4-FFF2-40B4-BE49-F238E27FC236}">
                <a16:creationId xmlns:a16="http://schemas.microsoft.com/office/drawing/2014/main" id="{EE135A81-98E9-9B8F-10D6-E3AF37D690C3}"/>
              </a:ext>
            </a:extLst>
          </p:cNvPr>
          <p:cNvCxnSpPr/>
          <p:nvPr/>
        </p:nvCxnSpPr>
        <p:spPr>
          <a:xfrm>
            <a:off x="909655" y="4289946"/>
            <a:ext cx="122849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745" y="3318151"/>
            <a:ext cx="1828800" cy="1828800"/>
          </a:xfrm>
          <a:prstGeom prst="rect">
            <a:avLst/>
          </a:prstGeom>
        </p:spPr>
      </p:pic>
      <p:sp>
        <p:nvSpPr>
          <p:cNvPr id="4" name="Shape 0"/>
          <p:cNvSpPr/>
          <p:nvPr/>
        </p:nvSpPr>
        <p:spPr>
          <a:xfrm>
            <a:off x="0" y="0"/>
            <a:ext cx="9144000" cy="868680"/>
          </a:xfrm>
          <a:prstGeom prst="rect">
            <a:avLst/>
          </a:prstGeom>
          <a:solidFill>
            <a:srgbClr val="EEF4EE"/>
          </a:solidFill>
          <a:ln/>
        </p:spPr>
        <p:txBody>
          <a:bodyPr/>
          <a:lstStyle/>
          <a:p>
            <a:endParaRPr lang="en-US"/>
          </a:p>
        </p:txBody>
      </p:sp>
      <p:sp>
        <p:nvSpPr>
          <p:cNvPr id="5" name="Text 1"/>
          <p:cNvSpPr/>
          <p:nvPr/>
        </p:nvSpPr>
        <p:spPr>
          <a:xfrm>
            <a:off x="640080" y="109728"/>
            <a:ext cx="7772400" cy="640080"/>
          </a:xfrm>
          <a:prstGeom prst="rect">
            <a:avLst/>
          </a:prstGeom>
          <a:noFill/>
          <a:ln/>
        </p:spPr>
        <p:txBody>
          <a:bodyPr wrap="square" lIns="0" tIns="0" rIns="0" bIns="0" rtlCol="0" anchor="ctr"/>
          <a:lstStyle/>
          <a:p>
            <a:pPr marL="0" indent="0" algn="l">
              <a:buNone/>
            </a:pPr>
            <a:r>
              <a:rPr lang="en-US" sz="2800" b="1" dirty="0">
                <a:solidFill>
                  <a:srgbClr val="3D6B4F"/>
                </a:solidFill>
                <a:latin typeface="Georgia" pitchFamily="34" charset="0"/>
                <a:ea typeface="Georgia" pitchFamily="34" charset="-122"/>
                <a:cs typeface="Georgia" pitchFamily="34" charset="-120"/>
              </a:rPr>
              <a:t>System Architecture Overview</a:t>
            </a:r>
            <a:endParaRPr lang="en-US" sz="2800" dirty="0"/>
          </a:p>
        </p:txBody>
      </p:sp>
      <p:sp>
        <p:nvSpPr>
          <p:cNvPr id="6" name="Text 2"/>
          <p:cNvSpPr/>
          <p:nvPr/>
        </p:nvSpPr>
        <p:spPr>
          <a:xfrm>
            <a:off x="4526507" y="1143000"/>
            <a:ext cx="4467821" cy="3566160"/>
          </a:xfrm>
          <a:prstGeom prst="rect">
            <a:avLst/>
          </a:prstGeom>
          <a:noFill/>
          <a:ln/>
        </p:spPr>
        <p:txBody>
          <a:bodyPr wrap="square" rtlCol="0" anchor="t">
            <a:normAutofit fontScale="85000" lnSpcReduction="20000"/>
          </a:bodyPr>
          <a:lstStyle/>
          <a:p>
            <a:pPr marL="342900" indent="-342900" algn="l">
              <a:lnSpc>
                <a:spcPct val="115000"/>
              </a:lnSpc>
              <a:spcAft>
                <a:spcPts val="1000"/>
              </a:spcAft>
              <a:buSzPct val="100000"/>
              <a:buChar char="•"/>
            </a:pPr>
            <a:r>
              <a:rPr lang="en-US" sz="1500" b="1" dirty="0">
                <a:solidFill>
                  <a:srgbClr val="2D3B2D"/>
                </a:solidFill>
                <a:latin typeface="Calibri" pitchFamily="34" charset="0"/>
                <a:ea typeface="Calibri" pitchFamily="34" charset="-122"/>
                <a:cs typeface="Calibri" pitchFamily="34" charset="-120"/>
              </a:rPr>
              <a:t>Physical Layer</a:t>
            </a:r>
            <a:r>
              <a:rPr lang="en-US" sz="1500" dirty="0">
                <a:solidFill>
                  <a:srgbClr val="2D3B2D"/>
                </a:solidFill>
                <a:latin typeface="Calibri" pitchFamily="34" charset="0"/>
                <a:ea typeface="Calibri" pitchFamily="34" charset="-122"/>
                <a:cs typeface="Calibri" pitchFamily="34" charset="-120"/>
              </a:rPr>
              <a:t>: RFID/NFC authentication connects members to generating and consuming exercise equipment</a:t>
            </a:r>
          </a:p>
          <a:p>
            <a:pPr marL="342900" indent="-342900" algn="l">
              <a:lnSpc>
                <a:spcPct val="115000"/>
              </a:lnSpc>
              <a:spcAft>
                <a:spcPts val="1000"/>
              </a:spcAft>
              <a:buSzPct val="100000"/>
              <a:buChar char="•"/>
            </a:pPr>
            <a:r>
              <a:rPr lang="en-US" sz="1500" b="1" dirty="0">
                <a:solidFill>
                  <a:srgbClr val="2D3B2D"/>
                </a:solidFill>
                <a:latin typeface="Calibri" pitchFamily="34" charset="0"/>
                <a:ea typeface="Calibri" pitchFamily="34" charset="-122"/>
                <a:cs typeface="Calibri" pitchFamily="34" charset="-120"/>
              </a:rPr>
              <a:t>IoT Layer</a:t>
            </a:r>
            <a:r>
              <a:rPr lang="en-US" sz="1500" dirty="0">
                <a:solidFill>
                  <a:srgbClr val="2D3B2D"/>
                </a:solidFill>
                <a:latin typeface="Calibri" pitchFamily="34" charset="0"/>
                <a:ea typeface="Calibri" pitchFamily="34" charset="-122"/>
                <a:cs typeface="Calibri" pitchFamily="34" charset="-120"/>
              </a:rPr>
              <a:t>: Resistance-based machines capture real-time wattage output and transmit telemetry to the cloud backend</a:t>
            </a:r>
          </a:p>
          <a:p>
            <a:pPr marL="342900" indent="-342900" algn="l">
              <a:lnSpc>
                <a:spcPct val="115000"/>
              </a:lnSpc>
              <a:spcAft>
                <a:spcPts val="1000"/>
              </a:spcAft>
              <a:buSzPct val="100000"/>
              <a:buChar char="•"/>
            </a:pPr>
            <a:r>
              <a:rPr lang="en-US" sz="1500" b="1" dirty="0">
                <a:solidFill>
                  <a:srgbClr val="2D3B2D"/>
                </a:solidFill>
                <a:latin typeface="Calibri" pitchFamily="34" charset="0"/>
                <a:ea typeface="Calibri" pitchFamily="34" charset="-122"/>
                <a:cs typeface="Calibri" pitchFamily="34" charset="-120"/>
              </a:rPr>
              <a:t>Local Infrastructure</a:t>
            </a:r>
            <a:r>
              <a:rPr lang="en-US" sz="1500" dirty="0">
                <a:solidFill>
                  <a:srgbClr val="2D3B2D"/>
                </a:solidFill>
                <a:latin typeface="Calibri" pitchFamily="34" charset="0"/>
                <a:ea typeface="Calibri" pitchFamily="34" charset="-122"/>
                <a:cs typeface="Calibri" pitchFamily="34" charset="-120"/>
              </a:rPr>
              <a:t>: On-site battery system stores generated energy and distributes electricity between building appliances and consuming machines (treadmills/stair-steppers)</a:t>
            </a:r>
          </a:p>
          <a:p>
            <a:pPr marL="342900" indent="-342900" algn="l">
              <a:lnSpc>
                <a:spcPct val="115000"/>
              </a:lnSpc>
              <a:spcAft>
                <a:spcPts val="1000"/>
              </a:spcAft>
              <a:buSzPct val="100000"/>
              <a:buChar char="•"/>
            </a:pPr>
            <a:r>
              <a:rPr lang="en-US" sz="1500" b="1" dirty="0">
                <a:solidFill>
                  <a:srgbClr val="2D3B2D"/>
                </a:solidFill>
                <a:latin typeface="Calibri" pitchFamily="34" charset="0"/>
                <a:ea typeface="Calibri" pitchFamily="34" charset="-122"/>
                <a:cs typeface="Calibri" pitchFamily="34" charset="-120"/>
              </a:rPr>
              <a:t>Cloud Backend</a:t>
            </a:r>
            <a:r>
              <a:rPr lang="en-US" sz="1500" dirty="0">
                <a:solidFill>
                  <a:srgbClr val="2D3B2D"/>
                </a:solidFill>
                <a:latin typeface="Calibri" pitchFamily="34" charset="0"/>
                <a:ea typeface="Calibri" pitchFamily="34" charset="-122"/>
                <a:cs typeface="Calibri" pitchFamily="34" charset="-120"/>
              </a:rPr>
              <a:t>: AWS-hosted server manages member accounts, processes wattage credits, and serves the mobile and kiosk interfaces</a:t>
            </a:r>
          </a:p>
          <a:p>
            <a:pPr marL="342900" indent="-342900" algn="l">
              <a:lnSpc>
                <a:spcPct val="115000"/>
              </a:lnSpc>
              <a:spcAft>
                <a:spcPts val="1000"/>
              </a:spcAft>
              <a:buSzPct val="100000"/>
              <a:buChar char="•"/>
            </a:pPr>
            <a:r>
              <a:rPr lang="en-US" sz="1500" b="1" dirty="0">
                <a:solidFill>
                  <a:srgbClr val="2D3B2D"/>
                </a:solidFill>
                <a:latin typeface="Calibri" pitchFamily="34" charset="0"/>
                <a:ea typeface="Calibri" pitchFamily="34" charset="-122"/>
                <a:cs typeface="Calibri" pitchFamily="34" charset="-120"/>
              </a:rPr>
              <a:t>Database</a:t>
            </a:r>
            <a:r>
              <a:rPr lang="en-US" sz="1500" dirty="0">
                <a:solidFill>
                  <a:srgbClr val="2D3B2D"/>
                </a:solidFill>
                <a:latin typeface="Calibri" pitchFamily="34" charset="0"/>
                <a:ea typeface="Calibri" pitchFamily="34" charset="-122"/>
                <a:cs typeface="Calibri" pitchFamily="34" charset="-120"/>
              </a:rPr>
              <a:t>: Database tables store member profiles, session records, telemetry data, and reward transactions</a:t>
            </a:r>
            <a:endParaRPr lang="en-US" sz="1500" dirty="0"/>
          </a:p>
        </p:txBody>
      </p:sp>
      <p:pic>
        <p:nvPicPr>
          <p:cNvPr id="2" name="Image 0" descr="preencoded.png"/>
          <p:cNvPicPr>
            <a:picLocks noChangeAspect="1"/>
          </p:cNvPicPr>
          <p:nvPr/>
        </p:nvPicPr>
        <p:blipFill>
          <a:blip r:embed="rId4"/>
          <a:stretch>
            <a:fillRect/>
          </a:stretch>
        </p:blipFill>
        <p:spPr>
          <a:xfrm>
            <a:off x="7314769" y="431"/>
            <a:ext cx="1828800" cy="1828800"/>
          </a:xfrm>
          <a:prstGeom prst="rect">
            <a:avLst/>
          </a:prstGeom>
        </p:spPr>
      </p:pic>
      <p:pic>
        <p:nvPicPr>
          <p:cNvPr id="8" name="Picture 7">
            <a:extLst>
              <a:ext uri="{FF2B5EF4-FFF2-40B4-BE49-F238E27FC236}">
                <a16:creationId xmlns:a16="http://schemas.microsoft.com/office/drawing/2014/main" id="{C2C4B0BE-9291-4C42-4D8F-D929143C81B1}"/>
              </a:ext>
            </a:extLst>
          </p:cNvPr>
          <p:cNvPicPr>
            <a:picLocks noChangeAspect="1"/>
          </p:cNvPicPr>
          <p:nvPr/>
        </p:nvPicPr>
        <p:blipFill>
          <a:blip r:embed="rId5"/>
          <a:stretch>
            <a:fillRect/>
          </a:stretch>
        </p:blipFill>
        <p:spPr>
          <a:xfrm>
            <a:off x="499143" y="1041778"/>
            <a:ext cx="3878123" cy="38839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EF4EE"/>
          </a:solidFill>
          <a:ln/>
        </p:spPr>
        <p:txBody>
          <a:bodyPr/>
          <a:lstStyle/>
          <a:p>
            <a:endParaRPr lang="en-US"/>
          </a:p>
        </p:txBody>
      </p:sp>
      <p:sp>
        <p:nvSpPr>
          <p:cNvPr id="3" name="Shape 1"/>
          <p:cNvSpPr/>
          <p:nvPr/>
        </p:nvSpPr>
        <p:spPr>
          <a:xfrm>
            <a:off x="0" y="640080"/>
            <a:ext cx="9144000" cy="18288"/>
          </a:xfrm>
          <a:prstGeom prst="rect">
            <a:avLst/>
          </a:prstGeom>
          <a:solidFill>
            <a:srgbClr val="D4E8DC"/>
          </a:solidFill>
          <a:ln/>
        </p:spPr>
        <p:txBody>
          <a:bodyPr/>
          <a:lstStyle/>
          <a:p>
            <a:endParaRPr lang="en-US"/>
          </a:p>
        </p:txBody>
      </p:sp>
      <p:sp>
        <p:nvSpPr>
          <p:cNvPr id="4" name="Text 2"/>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GitHub Repository</a:t>
            </a:r>
            <a:endParaRPr lang="en-US" sz="2200" dirty="0"/>
          </a:p>
        </p:txBody>
      </p:sp>
      <p:sp>
        <p:nvSpPr>
          <p:cNvPr id="6" name="Shape 3"/>
          <p:cNvSpPr/>
          <p:nvPr/>
        </p:nvSpPr>
        <p:spPr>
          <a:xfrm>
            <a:off x="365760" y="868680"/>
            <a:ext cx="8412480" cy="4023360"/>
          </a:xfrm>
          <a:prstGeom prst="rect">
            <a:avLst/>
          </a:prstGeom>
          <a:solidFill>
            <a:srgbClr val="F5F9F5"/>
          </a:solidFill>
          <a:ln w="9525">
            <a:solidFill>
              <a:srgbClr val="D4E8D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497649" y="-4745"/>
            <a:ext cx="1645920" cy="1645920"/>
          </a:xfrm>
          <a:prstGeom prst="rect">
            <a:avLst/>
          </a:prstGeom>
        </p:spPr>
      </p:pic>
      <p:pic>
        <p:nvPicPr>
          <p:cNvPr id="8" name="Picture 7">
            <a:extLst>
              <a:ext uri="{FF2B5EF4-FFF2-40B4-BE49-F238E27FC236}">
                <a16:creationId xmlns:a16="http://schemas.microsoft.com/office/drawing/2014/main" id="{BE934803-0CBB-7400-B653-30DE4D95AA40}"/>
              </a:ext>
            </a:extLst>
          </p:cNvPr>
          <p:cNvPicPr>
            <a:picLocks noChangeAspect="1"/>
          </p:cNvPicPr>
          <p:nvPr/>
        </p:nvPicPr>
        <p:blipFill>
          <a:blip r:embed="rId4"/>
          <a:stretch>
            <a:fillRect/>
          </a:stretch>
        </p:blipFill>
        <p:spPr>
          <a:xfrm>
            <a:off x="365329" y="868680"/>
            <a:ext cx="8412480" cy="4023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EF4EE"/>
          </a:solidFill>
          <a:ln/>
        </p:spPr>
        <p:txBody>
          <a:bodyPr/>
          <a:lstStyle/>
          <a:p>
            <a:endParaRPr lang="en-US"/>
          </a:p>
        </p:txBody>
      </p:sp>
      <p:sp>
        <p:nvSpPr>
          <p:cNvPr id="3" name="Shape 1"/>
          <p:cNvSpPr/>
          <p:nvPr/>
        </p:nvSpPr>
        <p:spPr>
          <a:xfrm>
            <a:off x="0" y="640080"/>
            <a:ext cx="9144000" cy="18288"/>
          </a:xfrm>
          <a:prstGeom prst="rect">
            <a:avLst/>
          </a:prstGeom>
          <a:solidFill>
            <a:srgbClr val="D4E8DC"/>
          </a:solidFill>
          <a:ln/>
        </p:spPr>
        <p:txBody>
          <a:bodyPr/>
          <a:lstStyle/>
          <a:p>
            <a:endParaRPr lang="en-US"/>
          </a:p>
        </p:txBody>
      </p:sp>
      <p:sp>
        <p:nvSpPr>
          <p:cNvPr id="4" name="Text 2"/>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Development Environment</a:t>
            </a:r>
            <a:endParaRPr lang="en-US" sz="2200" dirty="0"/>
          </a:p>
        </p:txBody>
      </p:sp>
      <p:pic>
        <p:nvPicPr>
          <p:cNvPr id="5" name="Image 0" descr="preencoded.png"/>
          <p:cNvPicPr>
            <a:picLocks noChangeAspect="1"/>
          </p:cNvPicPr>
          <p:nvPr/>
        </p:nvPicPr>
        <p:blipFill>
          <a:blip r:embed="rId3"/>
          <a:stretch>
            <a:fillRect/>
          </a:stretch>
        </p:blipFill>
        <p:spPr>
          <a:xfrm>
            <a:off x="7497649" y="-4745"/>
            <a:ext cx="1645920" cy="1645920"/>
          </a:xfrm>
          <a:prstGeom prst="rect">
            <a:avLst/>
          </a:prstGeom>
        </p:spPr>
      </p:pic>
      <p:sp>
        <p:nvSpPr>
          <p:cNvPr id="7" name="Text 2">
            <a:extLst>
              <a:ext uri="{FF2B5EF4-FFF2-40B4-BE49-F238E27FC236}">
                <a16:creationId xmlns:a16="http://schemas.microsoft.com/office/drawing/2014/main" id="{B493E17F-68F7-3713-3A8A-AD1F58F4119D}"/>
              </a:ext>
            </a:extLst>
          </p:cNvPr>
          <p:cNvSpPr/>
          <p:nvPr/>
        </p:nvSpPr>
        <p:spPr>
          <a:xfrm>
            <a:off x="4526507" y="1143000"/>
            <a:ext cx="4467821" cy="3566160"/>
          </a:xfrm>
          <a:prstGeom prst="rect">
            <a:avLst/>
          </a:prstGeom>
          <a:noFill/>
          <a:ln/>
        </p:spPr>
        <p:txBody>
          <a:bodyPr wrap="square" rtlCol="0" anchor="t">
            <a:normAutofit fontScale="92500" lnSpcReduction="20000"/>
          </a:bodyPr>
          <a:lstStyle/>
          <a:p>
            <a:pPr marL="342900" indent="-342900" algn="l">
              <a:lnSpc>
                <a:spcPct val="115000"/>
              </a:lnSpc>
              <a:spcAft>
                <a:spcPts val="1000"/>
              </a:spcAft>
              <a:buSzPct val="100000"/>
              <a:buChar char="•"/>
            </a:pPr>
            <a:r>
              <a:rPr lang="en-US" sz="1500" b="1" dirty="0"/>
              <a:t>Language</a:t>
            </a:r>
            <a:r>
              <a:rPr lang="en-US" sz="1500" dirty="0"/>
              <a:t>: Python 3.x</a:t>
            </a:r>
          </a:p>
          <a:p>
            <a:pPr marL="342900" indent="-342900" algn="l">
              <a:lnSpc>
                <a:spcPct val="115000"/>
              </a:lnSpc>
              <a:spcAft>
                <a:spcPts val="1000"/>
              </a:spcAft>
              <a:buSzPct val="100000"/>
              <a:buChar char="•"/>
            </a:pPr>
            <a:r>
              <a:rPr lang="en-US" sz="1500" b="1" dirty="0"/>
              <a:t>IDE</a:t>
            </a:r>
            <a:r>
              <a:rPr lang="en-US" sz="1500" dirty="0"/>
              <a:t>: JetBrains PyCharm (Education License)</a:t>
            </a:r>
          </a:p>
          <a:p>
            <a:pPr marL="342900" indent="-342900" algn="l">
              <a:lnSpc>
                <a:spcPct val="115000"/>
              </a:lnSpc>
              <a:spcAft>
                <a:spcPts val="1000"/>
              </a:spcAft>
              <a:buSzPct val="100000"/>
              <a:buChar char="•"/>
            </a:pPr>
            <a:r>
              <a:rPr lang="en-US" sz="1500" b="1" dirty="0"/>
              <a:t>Version Control</a:t>
            </a:r>
            <a:r>
              <a:rPr lang="en-US" sz="1500" dirty="0"/>
              <a:t>: Git / GitHub (two-branch workflow)</a:t>
            </a:r>
          </a:p>
          <a:p>
            <a:pPr marL="342900" indent="-342900">
              <a:lnSpc>
                <a:spcPct val="115000"/>
              </a:lnSpc>
              <a:spcAft>
                <a:spcPts val="1000"/>
              </a:spcAft>
              <a:buSzPct val="100000"/>
              <a:buChar char="•"/>
            </a:pPr>
            <a:r>
              <a:rPr lang="en-US" sz="1500" b="1" dirty="0"/>
              <a:t>Repository</a:t>
            </a:r>
            <a:r>
              <a:rPr lang="en-US" sz="1500" dirty="0"/>
              <a:t>: </a:t>
            </a:r>
            <a:r>
              <a:rPr lang="en-US" sz="1500" dirty="0">
                <a:hlinkClick r:id="rId4"/>
              </a:rPr>
              <a:t>https://github.com/RyanBJ/capstone</a:t>
            </a:r>
            <a:endParaRPr lang="en-US" sz="1500" dirty="0"/>
          </a:p>
          <a:p>
            <a:pPr marL="342900" indent="-342900">
              <a:lnSpc>
                <a:spcPct val="115000"/>
              </a:lnSpc>
              <a:spcAft>
                <a:spcPts val="1000"/>
              </a:spcAft>
              <a:buSzPct val="100000"/>
              <a:buChar char="•"/>
            </a:pPr>
            <a:r>
              <a:rPr lang="en-US" sz="1500" b="1" dirty="0"/>
              <a:t>Dependencies</a:t>
            </a:r>
            <a:r>
              <a:rPr lang="en-US" sz="1500" dirty="0"/>
              <a:t>: None – standard Python library only</a:t>
            </a:r>
          </a:p>
          <a:p>
            <a:pPr marL="342900" indent="-342900">
              <a:lnSpc>
                <a:spcPct val="115000"/>
              </a:lnSpc>
              <a:spcAft>
                <a:spcPts val="1000"/>
              </a:spcAft>
              <a:buSzPct val="100000"/>
              <a:buChar char="•"/>
            </a:pPr>
            <a:r>
              <a:rPr lang="en-US" sz="1500" b="1" dirty="0"/>
              <a:t>Structure</a:t>
            </a:r>
            <a:r>
              <a:rPr lang="en-US" sz="1500" dirty="0"/>
              <a:t>:</a:t>
            </a:r>
          </a:p>
          <a:p>
            <a:pPr marL="800100" lvl="1" indent="-342900">
              <a:lnSpc>
                <a:spcPct val="115000"/>
              </a:lnSpc>
              <a:spcAft>
                <a:spcPts val="1000"/>
              </a:spcAft>
              <a:buSzPct val="100000"/>
              <a:buChar char="•"/>
            </a:pPr>
            <a:r>
              <a:rPr lang="en-US" sz="1500" b="1" dirty="0"/>
              <a:t>/</a:t>
            </a:r>
            <a:r>
              <a:rPr lang="en-US" sz="1500" b="1" dirty="0" err="1"/>
              <a:t>src</a:t>
            </a:r>
            <a:r>
              <a:rPr lang="en-US" sz="1500" dirty="0"/>
              <a:t>: watt_calculator.py (normalization algorithm)</a:t>
            </a:r>
          </a:p>
          <a:p>
            <a:pPr marL="800100" lvl="1" indent="-342900">
              <a:lnSpc>
                <a:spcPct val="115000"/>
              </a:lnSpc>
              <a:spcAft>
                <a:spcPts val="1000"/>
              </a:spcAft>
              <a:buSzPct val="100000"/>
              <a:buChar char="•"/>
            </a:pPr>
            <a:r>
              <a:rPr lang="en-US" sz="1500" b="1" dirty="0"/>
              <a:t>/docs</a:t>
            </a:r>
            <a:r>
              <a:rPr lang="en-US" sz="1500" dirty="0"/>
              <a:t>: written assignments and technical report</a:t>
            </a:r>
          </a:p>
          <a:p>
            <a:pPr marL="800100" lvl="1" indent="-342900">
              <a:lnSpc>
                <a:spcPct val="115000"/>
              </a:lnSpc>
              <a:spcAft>
                <a:spcPts val="1000"/>
              </a:spcAft>
              <a:buSzPct val="100000"/>
              <a:buChar char="•"/>
            </a:pPr>
            <a:r>
              <a:rPr lang="en-US" sz="1500" b="1" dirty="0"/>
              <a:t>/diagrams</a:t>
            </a:r>
            <a:r>
              <a:rPr lang="en-US" sz="1500" dirty="0"/>
              <a:t>: system architecture exports</a:t>
            </a:r>
          </a:p>
          <a:p>
            <a:pPr marL="800100" lvl="1" indent="-342900">
              <a:lnSpc>
                <a:spcPct val="115000"/>
              </a:lnSpc>
              <a:spcAft>
                <a:spcPts val="1000"/>
              </a:spcAft>
              <a:buSzPct val="100000"/>
              <a:buChar char="•"/>
            </a:pPr>
            <a:r>
              <a:rPr lang="en-US" sz="1500" b="1" dirty="0"/>
              <a:t>/mockups</a:t>
            </a:r>
            <a:r>
              <a:rPr lang="en-US" sz="1500" dirty="0"/>
              <a:t>: Figma UI screen exports</a:t>
            </a:r>
          </a:p>
        </p:txBody>
      </p:sp>
      <p:pic>
        <p:nvPicPr>
          <p:cNvPr id="10" name="Picture 9">
            <a:extLst>
              <a:ext uri="{FF2B5EF4-FFF2-40B4-BE49-F238E27FC236}">
                <a16:creationId xmlns:a16="http://schemas.microsoft.com/office/drawing/2014/main" id="{9295C49C-9ECD-E488-B6E3-4E7B84613F12}"/>
              </a:ext>
            </a:extLst>
          </p:cNvPr>
          <p:cNvPicPr>
            <a:picLocks noChangeAspect="1"/>
          </p:cNvPicPr>
          <p:nvPr/>
        </p:nvPicPr>
        <p:blipFill>
          <a:blip r:embed="rId5"/>
          <a:stretch>
            <a:fillRect/>
          </a:stretch>
        </p:blipFill>
        <p:spPr>
          <a:xfrm>
            <a:off x="199232" y="868998"/>
            <a:ext cx="4180676" cy="40486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EF4EE"/>
          </a:solidFill>
          <a:ln/>
        </p:spPr>
        <p:txBody>
          <a:bodyPr/>
          <a:lstStyle/>
          <a:p>
            <a:endParaRPr lang="en-US"/>
          </a:p>
        </p:txBody>
      </p:sp>
      <p:sp>
        <p:nvSpPr>
          <p:cNvPr id="3" name="Shape 1"/>
          <p:cNvSpPr/>
          <p:nvPr/>
        </p:nvSpPr>
        <p:spPr>
          <a:xfrm>
            <a:off x="0" y="640080"/>
            <a:ext cx="9144000" cy="18288"/>
          </a:xfrm>
          <a:prstGeom prst="rect">
            <a:avLst/>
          </a:prstGeom>
          <a:solidFill>
            <a:srgbClr val="D4E8DC"/>
          </a:solidFill>
          <a:ln/>
        </p:spPr>
        <p:txBody>
          <a:bodyPr/>
          <a:lstStyle/>
          <a:p>
            <a:endParaRPr lang="en-US"/>
          </a:p>
        </p:txBody>
      </p:sp>
      <p:sp>
        <p:nvSpPr>
          <p:cNvPr id="4" name="Text 2"/>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UI — Tap-In Screen</a:t>
            </a:r>
            <a:endParaRPr lang="en-US" sz="2200" dirty="0"/>
          </a:p>
        </p:txBody>
      </p:sp>
      <p:sp>
        <p:nvSpPr>
          <p:cNvPr id="6" name="Shape 3"/>
          <p:cNvSpPr/>
          <p:nvPr/>
        </p:nvSpPr>
        <p:spPr>
          <a:xfrm>
            <a:off x="365760" y="868680"/>
            <a:ext cx="8412480" cy="4023360"/>
          </a:xfrm>
          <a:prstGeom prst="rect">
            <a:avLst/>
          </a:prstGeom>
          <a:solidFill>
            <a:schemeClr val="accent6">
              <a:lumMod val="50000"/>
            </a:schemeClr>
          </a:solidFill>
          <a:ln w="9525">
            <a:solidFill>
              <a:srgbClr val="D4E8D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497649" y="-4745"/>
            <a:ext cx="1645920" cy="1645920"/>
          </a:xfrm>
          <a:prstGeom prst="rect">
            <a:avLst/>
          </a:prstGeom>
        </p:spPr>
      </p:pic>
      <p:pic>
        <p:nvPicPr>
          <p:cNvPr id="8" name="Picture 7">
            <a:extLst>
              <a:ext uri="{FF2B5EF4-FFF2-40B4-BE49-F238E27FC236}">
                <a16:creationId xmlns:a16="http://schemas.microsoft.com/office/drawing/2014/main" id="{24A75F89-A56A-AC20-9873-F5F4A7DE4E4B}"/>
              </a:ext>
            </a:extLst>
          </p:cNvPr>
          <p:cNvPicPr>
            <a:picLocks noChangeAspect="1"/>
          </p:cNvPicPr>
          <p:nvPr/>
        </p:nvPicPr>
        <p:blipFill>
          <a:blip r:embed="rId4"/>
          <a:stretch>
            <a:fillRect/>
          </a:stretch>
        </p:blipFill>
        <p:spPr>
          <a:xfrm>
            <a:off x="1350947" y="868681"/>
            <a:ext cx="6437375" cy="4023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EF4EE"/>
          </a:solidFill>
          <a:ln/>
        </p:spPr>
        <p:txBody>
          <a:bodyPr/>
          <a:lstStyle/>
          <a:p>
            <a:endParaRPr lang="en-US"/>
          </a:p>
        </p:txBody>
      </p:sp>
      <p:sp>
        <p:nvSpPr>
          <p:cNvPr id="3" name="Shape 1"/>
          <p:cNvSpPr/>
          <p:nvPr/>
        </p:nvSpPr>
        <p:spPr>
          <a:xfrm>
            <a:off x="0" y="640080"/>
            <a:ext cx="9144000" cy="18288"/>
          </a:xfrm>
          <a:prstGeom prst="rect">
            <a:avLst/>
          </a:prstGeom>
          <a:solidFill>
            <a:srgbClr val="D4E8DC"/>
          </a:solidFill>
          <a:ln/>
        </p:spPr>
        <p:txBody>
          <a:bodyPr/>
          <a:lstStyle/>
          <a:p>
            <a:endParaRPr lang="en-US"/>
          </a:p>
        </p:txBody>
      </p:sp>
      <p:sp>
        <p:nvSpPr>
          <p:cNvPr id="4" name="Text 2"/>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UI — Home Screen</a:t>
            </a:r>
            <a:endParaRPr lang="en-US" sz="2200" dirty="0"/>
          </a:p>
        </p:txBody>
      </p:sp>
      <p:sp>
        <p:nvSpPr>
          <p:cNvPr id="6" name="Shape 3"/>
          <p:cNvSpPr/>
          <p:nvPr/>
        </p:nvSpPr>
        <p:spPr>
          <a:xfrm>
            <a:off x="365760" y="868680"/>
            <a:ext cx="8412480" cy="4023360"/>
          </a:xfrm>
          <a:prstGeom prst="rect">
            <a:avLst/>
          </a:prstGeom>
          <a:solidFill>
            <a:schemeClr val="accent6">
              <a:lumMod val="50000"/>
            </a:schemeClr>
          </a:solidFill>
          <a:ln w="9525">
            <a:solidFill>
              <a:srgbClr val="D4E8D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497649" y="-4745"/>
            <a:ext cx="1645920" cy="1645920"/>
          </a:xfrm>
          <a:prstGeom prst="rect">
            <a:avLst/>
          </a:prstGeom>
        </p:spPr>
      </p:pic>
      <p:pic>
        <p:nvPicPr>
          <p:cNvPr id="8" name="Picture 7">
            <a:extLst>
              <a:ext uri="{FF2B5EF4-FFF2-40B4-BE49-F238E27FC236}">
                <a16:creationId xmlns:a16="http://schemas.microsoft.com/office/drawing/2014/main" id="{230D0270-055F-D615-D3BD-8EEE104E83C3}"/>
              </a:ext>
            </a:extLst>
          </p:cNvPr>
          <p:cNvPicPr>
            <a:picLocks noChangeAspect="1"/>
          </p:cNvPicPr>
          <p:nvPr/>
        </p:nvPicPr>
        <p:blipFill>
          <a:blip r:embed="rId4"/>
          <a:stretch>
            <a:fillRect/>
          </a:stretch>
        </p:blipFill>
        <p:spPr>
          <a:xfrm>
            <a:off x="1353312" y="868680"/>
            <a:ext cx="6437376" cy="4023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EF4EE"/>
          </a:solidFill>
          <a:ln/>
        </p:spPr>
        <p:txBody>
          <a:bodyPr/>
          <a:lstStyle/>
          <a:p>
            <a:endParaRPr lang="en-US"/>
          </a:p>
        </p:txBody>
      </p:sp>
      <p:sp>
        <p:nvSpPr>
          <p:cNvPr id="3" name="Shape 1"/>
          <p:cNvSpPr/>
          <p:nvPr/>
        </p:nvSpPr>
        <p:spPr>
          <a:xfrm>
            <a:off x="0" y="640080"/>
            <a:ext cx="9144000" cy="18288"/>
          </a:xfrm>
          <a:prstGeom prst="rect">
            <a:avLst/>
          </a:prstGeom>
          <a:solidFill>
            <a:srgbClr val="D4E8DC"/>
          </a:solidFill>
          <a:ln/>
        </p:spPr>
        <p:txBody>
          <a:bodyPr/>
          <a:lstStyle/>
          <a:p>
            <a:endParaRPr lang="en-US"/>
          </a:p>
        </p:txBody>
      </p:sp>
      <p:sp>
        <p:nvSpPr>
          <p:cNvPr id="4" name="Text 2"/>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UI — Workout Screen</a:t>
            </a:r>
            <a:endParaRPr lang="en-US" sz="2200" dirty="0"/>
          </a:p>
        </p:txBody>
      </p:sp>
      <p:sp>
        <p:nvSpPr>
          <p:cNvPr id="6" name="Shape 3"/>
          <p:cNvSpPr/>
          <p:nvPr/>
        </p:nvSpPr>
        <p:spPr>
          <a:xfrm>
            <a:off x="365760" y="868680"/>
            <a:ext cx="8412480" cy="4023360"/>
          </a:xfrm>
          <a:prstGeom prst="rect">
            <a:avLst/>
          </a:prstGeom>
          <a:solidFill>
            <a:schemeClr val="accent6">
              <a:lumMod val="50000"/>
            </a:schemeClr>
          </a:solidFill>
          <a:ln w="9525">
            <a:solidFill>
              <a:srgbClr val="D4E8D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497649" y="-4745"/>
            <a:ext cx="1645920" cy="1645920"/>
          </a:xfrm>
          <a:prstGeom prst="rect">
            <a:avLst/>
          </a:prstGeom>
        </p:spPr>
      </p:pic>
      <p:pic>
        <p:nvPicPr>
          <p:cNvPr id="8" name="Picture 7">
            <a:extLst>
              <a:ext uri="{FF2B5EF4-FFF2-40B4-BE49-F238E27FC236}">
                <a16:creationId xmlns:a16="http://schemas.microsoft.com/office/drawing/2014/main" id="{63348FF7-15EE-3E93-3AA4-2AA5456286F7}"/>
              </a:ext>
            </a:extLst>
          </p:cNvPr>
          <p:cNvPicPr>
            <a:picLocks noChangeAspect="1"/>
          </p:cNvPicPr>
          <p:nvPr/>
        </p:nvPicPr>
        <p:blipFill>
          <a:blip r:embed="rId4"/>
          <a:stretch>
            <a:fillRect/>
          </a:stretch>
        </p:blipFill>
        <p:spPr>
          <a:xfrm>
            <a:off x="1353312" y="868680"/>
            <a:ext cx="6437376" cy="4023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3266B2-62F0-EA6C-0E81-0A7ADBB738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23C0E7-EC69-4C38-88F9-4C3FF297C9E1}"/>
              </a:ext>
            </a:extLst>
          </p:cNvPr>
          <p:cNvSpPr/>
          <p:nvPr/>
        </p:nvSpPr>
        <p:spPr>
          <a:xfrm>
            <a:off x="0" y="0"/>
            <a:ext cx="9144000" cy="658368"/>
          </a:xfrm>
          <a:prstGeom prst="rect">
            <a:avLst/>
          </a:prstGeom>
          <a:solidFill>
            <a:srgbClr val="EEF4EE"/>
          </a:solidFill>
          <a:ln/>
        </p:spPr>
        <p:txBody>
          <a:bodyPr/>
          <a:lstStyle/>
          <a:p>
            <a:endParaRPr lang="en-US"/>
          </a:p>
        </p:txBody>
      </p:sp>
      <p:sp>
        <p:nvSpPr>
          <p:cNvPr id="3" name="Shape 1">
            <a:extLst>
              <a:ext uri="{FF2B5EF4-FFF2-40B4-BE49-F238E27FC236}">
                <a16:creationId xmlns:a16="http://schemas.microsoft.com/office/drawing/2014/main" id="{C3D2B236-D800-7352-6695-46654108F648}"/>
              </a:ext>
            </a:extLst>
          </p:cNvPr>
          <p:cNvSpPr/>
          <p:nvPr/>
        </p:nvSpPr>
        <p:spPr>
          <a:xfrm>
            <a:off x="0" y="640080"/>
            <a:ext cx="9144000" cy="18288"/>
          </a:xfrm>
          <a:prstGeom prst="rect">
            <a:avLst/>
          </a:prstGeom>
          <a:solidFill>
            <a:srgbClr val="D4E8DC"/>
          </a:solidFill>
          <a:ln/>
        </p:spPr>
        <p:txBody>
          <a:bodyPr/>
          <a:lstStyle/>
          <a:p>
            <a:endParaRPr lang="en-US"/>
          </a:p>
        </p:txBody>
      </p:sp>
      <p:sp>
        <p:nvSpPr>
          <p:cNvPr id="4" name="Text 2">
            <a:extLst>
              <a:ext uri="{FF2B5EF4-FFF2-40B4-BE49-F238E27FC236}">
                <a16:creationId xmlns:a16="http://schemas.microsoft.com/office/drawing/2014/main" id="{71B95CD4-23FA-F935-0462-BA3BB155B9FC}"/>
              </a:ext>
            </a:extLst>
          </p:cNvPr>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UI — Home Screen</a:t>
            </a:r>
            <a:endParaRPr lang="en-US" sz="2200" dirty="0"/>
          </a:p>
        </p:txBody>
      </p:sp>
      <p:sp>
        <p:nvSpPr>
          <p:cNvPr id="6" name="Shape 3">
            <a:extLst>
              <a:ext uri="{FF2B5EF4-FFF2-40B4-BE49-F238E27FC236}">
                <a16:creationId xmlns:a16="http://schemas.microsoft.com/office/drawing/2014/main" id="{8C69CA6C-8C24-B761-8475-0138E0E5F4D8}"/>
              </a:ext>
            </a:extLst>
          </p:cNvPr>
          <p:cNvSpPr/>
          <p:nvPr/>
        </p:nvSpPr>
        <p:spPr>
          <a:xfrm>
            <a:off x="365760" y="868680"/>
            <a:ext cx="8412480" cy="4023360"/>
          </a:xfrm>
          <a:prstGeom prst="rect">
            <a:avLst/>
          </a:prstGeom>
          <a:solidFill>
            <a:schemeClr val="accent6">
              <a:lumMod val="50000"/>
            </a:schemeClr>
          </a:solidFill>
          <a:ln w="9525">
            <a:solidFill>
              <a:srgbClr val="D4E8DC"/>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F771E2A4-51AC-35A7-5958-0C3D767E73E0}"/>
              </a:ext>
            </a:extLst>
          </p:cNvPr>
          <p:cNvPicPr>
            <a:picLocks noChangeAspect="1"/>
          </p:cNvPicPr>
          <p:nvPr/>
        </p:nvPicPr>
        <p:blipFill>
          <a:blip r:embed="rId3"/>
          <a:stretch>
            <a:fillRect/>
          </a:stretch>
        </p:blipFill>
        <p:spPr>
          <a:xfrm>
            <a:off x="7497649" y="-4745"/>
            <a:ext cx="1645920" cy="1645920"/>
          </a:xfrm>
          <a:prstGeom prst="rect">
            <a:avLst/>
          </a:prstGeom>
        </p:spPr>
      </p:pic>
      <p:pic>
        <p:nvPicPr>
          <p:cNvPr id="8" name="Picture 7">
            <a:extLst>
              <a:ext uri="{FF2B5EF4-FFF2-40B4-BE49-F238E27FC236}">
                <a16:creationId xmlns:a16="http://schemas.microsoft.com/office/drawing/2014/main" id="{68628B12-CE08-3FBE-4AC6-2B8D21D057E0}"/>
              </a:ext>
            </a:extLst>
          </p:cNvPr>
          <p:cNvPicPr>
            <a:picLocks noChangeAspect="1"/>
          </p:cNvPicPr>
          <p:nvPr/>
        </p:nvPicPr>
        <p:blipFill>
          <a:blip r:embed="rId4"/>
          <a:stretch>
            <a:fillRect/>
          </a:stretch>
        </p:blipFill>
        <p:spPr>
          <a:xfrm>
            <a:off x="1353312" y="868680"/>
            <a:ext cx="6437376" cy="4023360"/>
          </a:xfrm>
          <a:prstGeom prst="rect">
            <a:avLst/>
          </a:prstGeom>
        </p:spPr>
      </p:pic>
    </p:spTree>
    <p:extLst>
      <p:ext uri="{BB962C8B-B14F-4D97-AF65-F5344CB8AC3E}">
        <p14:creationId xmlns:p14="http://schemas.microsoft.com/office/powerpoint/2010/main" val="1225384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D1B363-4EA7-95A9-7B5E-FF5B8F5F5C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18155BE-BBB2-5ACF-6486-A48573286E74}"/>
              </a:ext>
            </a:extLst>
          </p:cNvPr>
          <p:cNvSpPr/>
          <p:nvPr/>
        </p:nvSpPr>
        <p:spPr>
          <a:xfrm>
            <a:off x="0" y="0"/>
            <a:ext cx="9144000" cy="658368"/>
          </a:xfrm>
          <a:prstGeom prst="rect">
            <a:avLst/>
          </a:prstGeom>
          <a:solidFill>
            <a:srgbClr val="EEF4EE"/>
          </a:solidFill>
          <a:ln/>
        </p:spPr>
        <p:txBody>
          <a:bodyPr/>
          <a:lstStyle/>
          <a:p>
            <a:endParaRPr lang="en-US"/>
          </a:p>
        </p:txBody>
      </p:sp>
      <p:sp>
        <p:nvSpPr>
          <p:cNvPr id="3" name="Shape 1">
            <a:extLst>
              <a:ext uri="{FF2B5EF4-FFF2-40B4-BE49-F238E27FC236}">
                <a16:creationId xmlns:a16="http://schemas.microsoft.com/office/drawing/2014/main" id="{919FBF66-FECD-AA5F-E238-A9A1D12BF687}"/>
              </a:ext>
            </a:extLst>
          </p:cNvPr>
          <p:cNvSpPr/>
          <p:nvPr/>
        </p:nvSpPr>
        <p:spPr>
          <a:xfrm>
            <a:off x="0" y="640080"/>
            <a:ext cx="9144000" cy="18288"/>
          </a:xfrm>
          <a:prstGeom prst="rect">
            <a:avLst/>
          </a:prstGeom>
          <a:solidFill>
            <a:srgbClr val="D4E8DC"/>
          </a:solidFill>
          <a:ln/>
        </p:spPr>
        <p:txBody>
          <a:bodyPr/>
          <a:lstStyle/>
          <a:p>
            <a:endParaRPr lang="en-US"/>
          </a:p>
        </p:txBody>
      </p:sp>
      <p:sp>
        <p:nvSpPr>
          <p:cNvPr id="4" name="Text 2">
            <a:extLst>
              <a:ext uri="{FF2B5EF4-FFF2-40B4-BE49-F238E27FC236}">
                <a16:creationId xmlns:a16="http://schemas.microsoft.com/office/drawing/2014/main" id="{9CEFBD87-E988-0B58-F2C6-790BC40A0F1F}"/>
              </a:ext>
            </a:extLst>
          </p:cNvPr>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UI </a:t>
            </a:r>
            <a:r>
              <a:rPr lang="en-US" sz="2200" b="1">
                <a:solidFill>
                  <a:srgbClr val="3D6B4F"/>
                </a:solidFill>
                <a:latin typeface="Georgia" pitchFamily="34" charset="0"/>
                <a:ea typeface="Georgia" pitchFamily="34" charset="-122"/>
                <a:cs typeface="Georgia" pitchFamily="34" charset="-120"/>
              </a:rPr>
              <a:t>— Media </a:t>
            </a:r>
            <a:r>
              <a:rPr lang="en-US" sz="2200" b="1" dirty="0">
                <a:solidFill>
                  <a:srgbClr val="3D6B4F"/>
                </a:solidFill>
                <a:latin typeface="Georgia" pitchFamily="34" charset="0"/>
                <a:ea typeface="Georgia" pitchFamily="34" charset="-122"/>
                <a:cs typeface="Georgia" pitchFamily="34" charset="-120"/>
              </a:rPr>
              <a:t>Screen</a:t>
            </a:r>
            <a:endParaRPr lang="en-US" sz="2200" dirty="0"/>
          </a:p>
        </p:txBody>
      </p:sp>
      <p:sp>
        <p:nvSpPr>
          <p:cNvPr id="6" name="Shape 3">
            <a:extLst>
              <a:ext uri="{FF2B5EF4-FFF2-40B4-BE49-F238E27FC236}">
                <a16:creationId xmlns:a16="http://schemas.microsoft.com/office/drawing/2014/main" id="{441843A4-297D-BCE4-A307-7CDA9273D73D}"/>
              </a:ext>
            </a:extLst>
          </p:cNvPr>
          <p:cNvSpPr/>
          <p:nvPr/>
        </p:nvSpPr>
        <p:spPr>
          <a:xfrm>
            <a:off x="365760" y="868680"/>
            <a:ext cx="8412480" cy="4023360"/>
          </a:xfrm>
          <a:prstGeom prst="rect">
            <a:avLst/>
          </a:prstGeom>
          <a:solidFill>
            <a:schemeClr val="accent6">
              <a:lumMod val="50000"/>
            </a:schemeClr>
          </a:solidFill>
          <a:ln w="9525">
            <a:solidFill>
              <a:srgbClr val="D4E8DC"/>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6F193B77-1F20-E35E-F045-4F80020F0825}"/>
              </a:ext>
            </a:extLst>
          </p:cNvPr>
          <p:cNvPicPr>
            <a:picLocks noChangeAspect="1"/>
          </p:cNvPicPr>
          <p:nvPr/>
        </p:nvPicPr>
        <p:blipFill>
          <a:blip r:embed="rId3"/>
          <a:stretch>
            <a:fillRect/>
          </a:stretch>
        </p:blipFill>
        <p:spPr>
          <a:xfrm>
            <a:off x="7497649" y="-4745"/>
            <a:ext cx="1645920" cy="1645920"/>
          </a:xfrm>
          <a:prstGeom prst="rect">
            <a:avLst/>
          </a:prstGeom>
        </p:spPr>
      </p:pic>
      <p:pic>
        <p:nvPicPr>
          <p:cNvPr id="8" name="Picture 7">
            <a:extLst>
              <a:ext uri="{FF2B5EF4-FFF2-40B4-BE49-F238E27FC236}">
                <a16:creationId xmlns:a16="http://schemas.microsoft.com/office/drawing/2014/main" id="{54037A5D-37C8-B0B1-9BBF-710E52E3B886}"/>
              </a:ext>
            </a:extLst>
          </p:cNvPr>
          <p:cNvPicPr>
            <a:picLocks noChangeAspect="1"/>
          </p:cNvPicPr>
          <p:nvPr/>
        </p:nvPicPr>
        <p:blipFill>
          <a:blip r:embed="rId4"/>
          <a:stretch>
            <a:fillRect/>
          </a:stretch>
        </p:blipFill>
        <p:spPr>
          <a:xfrm>
            <a:off x="1353312" y="868680"/>
            <a:ext cx="6437376" cy="4023360"/>
          </a:xfrm>
          <a:prstGeom prst="rect">
            <a:avLst/>
          </a:prstGeom>
        </p:spPr>
      </p:pic>
    </p:spTree>
    <p:extLst>
      <p:ext uri="{BB962C8B-B14F-4D97-AF65-F5344CB8AC3E}">
        <p14:creationId xmlns:p14="http://schemas.microsoft.com/office/powerpoint/2010/main" val="3377097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EF4EE"/>
          </a:solidFill>
          <a:ln/>
        </p:spPr>
        <p:txBody>
          <a:bodyPr/>
          <a:lstStyle/>
          <a:p>
            <a:endParaRPr lang="en-US"/>
          </a:p>
        </p:txBody>
      </p:sp>
      <p:sp>
        <p:nvSpPr>
          <p:cNvPr id="3" name="Shape 1"/>
          <p:cNvSpPr/>
          <p:nvPr/>
        </p:nvSpPr>
        <p:spPr>
          <a:xfrm>
            <a:off x="0" y="640080"/>
            <a:ext cx="9144000" cy="18288"/>
          </a:xfrm>
          <a:prstGeom prst="rect">
            <a:avLst/>
          </a:prstGeom>
          <a:solidFill>
            <a:srgbClr val="D4E8DC"/>
          </a:solidFill>
          <a:ln/>
        </p:spPr>
        <p:txBody>
          <a:bodyPr/>
          <a:lstStyle/>
          <a:p>
            <a:endParaRPr lang="en-US"/>
          </a:p>
        </p:txBody>
      </p:sp>
      <p:sp>
        <p:nvSpPr>
          <p:cNvPr id="4" name="Text 2"/>
          <p:cNvSpPr/>
          <p:nvPr/>
        </p:nvSpPr>
        <p:spPr>
          <a:xfrm>
            <a:off x="548640" y="73152"/>
            <a:ext cx="8046720" cy="512064"/>
          </a:xfrm>
          <a:prstGeom prst="rect">
            <a:avLst/>
          </a:prstGeom>
          <a:noFill/>
          <a:ln/>
        </p:spPr>
        <p:txBody>
          <a:bodyPr wrap="square" lIns="0" tIns="0" rIns="0" bIns="0" rtlCol="0" anchor="ctr"/>
          <a:lstStyle/>
          <a:p>
            <a:pPr marL="0" indent="0" algn="l">
              <a:buNone/>
            </a:pPr>
            <a:r>
              <a:rPr lang="en-US" sz="2200" b="1" dirty="0">
                <a:solidFill>
                  <a:srgbClr val="3D6B4F"/>
                </a:solidFill>
                <a:latin typeface="Georgia" pitchFamily="34" charset="0"/>
                <a:ea typeface="Georgia" pitchFamily="34" charset="-122"/>
                <a:cs typeface="Georgia" pitchFamily="34" charset="-120"/>
              </a:rPr>
              <a:t>Python — Watt Calculator</a:t>
            </a:r>
            <a:endParaRPr lang="en-US" sz="2200" dirty="0"/>
          </a:p>
        </p:txBody>
      </p:sp>
      <p:sp>
        <p:nvSpPr>
          <p:cNvPr id="6" name="Shape 3"/>
          <p:cNvSpPr/>
          <p:nvPr/>
        </p:nvSpPr>
        <p:spPr>
          <a:xfrm>
            <a:off x="365760" y="868680"/>
            <a:ext cx="8412480" cy="4023360"/>
          </a:xfrm>
          <a:prstGeom prst="rect">
            <a:avLst/>
          </a:prstGeom>
          <a:solidFill>
            <a:schemeClr val="bg1"/>
          </a:solidFill>
          <a:ln w="9525">
            <a:solidFill>
              <a:srgbClr val="D4E8DC"/>
            </a:solidFill>
            <a:prstDash val="solid"/>
          </a:ln>
        </p:spPr>
        <p:txBody>
          <a:bodyPr/>
          <a:lstStyle/>
          <a:p>
            <a:pPr>
              <a:buNone/>
            </a:pPr>
            <a:r>
              <a:rPr lang="en-US" sz="1100" dirty="0">
                <a:solidFill>
                  <a:schemeClr val="accent3">
                    <a:lumMod val="75000"/>
                  </a:schemeClr>
                </a:solidFill>
                <a:effectLst/>
                <a:latin typeface="JetBrains Mono"/>
              </a:rPr>
              <a:t># watt_calculator.py</a:t>
            </a:r>
            <a:br>
              <a:rPr lang="en-US" sz="1100" dirty="0">
                <a:solidFill>
                  <a:schemeClr val="accent3">
                    <a:lumMod val="75000"/>
                  </a:schemeClr>
                </a:solidFill>
                <a:effectLst/>
                <a:latin typeface="JetBrains Mono"/>
              </a:rPr>
            </a:br>
            <a:r>
              <a:rPr lang="en-US" sz="1100" dirty="0">
                <a:solidFill>
                  <a:schemeClr val="accent3">
                    <a:lumMod val="75000"/>
                  </a:schemeClr>
                </a:solidFill>
                <a:effectLst/>
                <a:latin typeface="JetBrains Mono"/>
              </a:rPr>
              <a:t># Power Plant Fitness - Wattage Credit Normalization Engine</a:t>
            </a:r>
            <a:br>
              <a:rPr lang="en-US" sz="1100" dirty="0">
                <a:solidFill>
                  <a:schemeClr val="accent3">
                    <a:lumMod val="75000"/>
                  </a:schemeClr>
                </a:solidFill>
                <a:effectLst/>
                <a:latin typeface="JetBrains Mono"/>
              </a:rPr>
            </a:br>
            <a:r>
              <a:rPr lang="en-US" sz="1100" dirty="0">
                <a:solidFill>
                  <a:schemeClr val="accent3">
                    <a:lumMod val="75000"/>
                  </a:schemeClr>
                </a:solidFill>
                <a:effectLst/>
                <a:latin typeface="JetBrains Mono"/>
              </a:rPr>
              <a:t># MSIT 5910 Capstone Project - Ryan Bains-Jordan</a:t>
            </a:r>
            <a:br>
              <a:rPr lang="en-US" sz="1100" dirty="0">
                <a:solidFill>
                  <a:srgbClr val="7A7E85"/>
                </a:solidFill>
                <a:effectLst/>
                <a:latin typeface="JetBrains Mono"/>
              </a:rPr>
            </a:br>
            <a:br>
              <a:rPr lang="en-US" sz="1100" dirty="0">
                <a:solidFill>
                  <a:srgbClr val="7A7E85"/>
                </a:solidFill>
                <a:effectLst/>
                <a:latin typeface="JetBrains Mono"/>
              </a:rPr>
            </a:br>
            <a:r>
              <a:rPr lang="en-US" sz="1100" dirty="0">
                <a:solidFill>
                  <a:schemeClr val="accent2">
                    <a:lumMod val="75000"/>
                  </a:schemeClr>
                </a:solidFill>
                <a:effectLst/>
                <a:latin typeface="JetBrains Mono"/>
              </a:rPr>
              <a:t>def </a:t>
            </a:r>
            <a:r>
              <a:rPr lang="en-US" sz="1100" dirty="0" err="1">
                <a:solidFill>
                  <a:schemeClr val="accent5"/>
                </a:solidFill>
                <a:effectLst/>
                <a:latin typeface="JetBrains Mono"/>
              </a:rPr>
              <a:t>calculate_normalized_credit</a:t>
            </a:r>
            <a:r>
              <a:rPr lang="en-US" sz="1100" dirty="0">
                <a:solidFill>
                  <a:schemeClr val="accent3"/>
                </a:solidFill>
                <a:effectLst/>
                <a:latin typeface="JetBrains Mono"/>
              </a:rPr>
              <a:t>(</a:t>
            </a:r>
            <a:r>
              <a:rPr lang="en-US" sz="1100" dirty="0" err="1">
                <a:solidFill>
                  <a:schemeClr val="accent3">
                    <a:lumMod val="75000"/>
                  </a:schemeClr>
                </a:solidFill>
                <a:effectLst/>
                <a:latin typeface="JetBrains Mono"/>
              </a:rPr>
              <a:t>raw_watts</a:t>
            </a:r>
            <a:r>
              <a:rPr lang="en-US" sz="1100" dirty="0">
                <a:solidFill>
                  <a:schemeClr val="accent3"/>
                </a:solidFill>
                <a:effectLst/>
                <a:latin typeface="JetBrains Mono"/>
              </a:rPr>
              <a:t>,</a:t>
            </a:r>
            <a:r>
              <a:rPr lang="en-US" sz="1100" dirty="0">
                <a:solidFill>
                  <a:srgbClr val="BCBEC4"/>
                </a:solidFill>
                <a:effectLst/>
                <a:latin typeface="JetBrains Mono"/>
              </a:rPr>
              <a:t> </a:t>
            </a:r>
            <a:r>
              <a:rPr lang="en-US" sz="1100" dirty="0" err="1">
                <a:solidFill>
                  <a:schemeClr val="accent3">
                    <a:lumMod val="75000"/>
                  </a:schemeClr>
                </a:solidFill>
                <a:effectLst/>
                <a:latin typeface="JetBrains Mono"/>
              </a:rPr>
              <a:t>duration_seconds</a:t>
            </a:r>
            <a:r>
              <a:rPr lang="en-US" sz="1100" dirty="0">
                <a:solidFill>
                  <a:schemeClr val="accent3"/>
                </a:solidFill>
                <a:effectLst/>
                <a:latin typeface="JetBrains Mono"/>
              </a:rPr>
              <a:t>,</a:t>
            </a:r>
            <a:r>
              <a:rPr lang="en-US" sz="1100" dirty="0">
                <a:solidFill>
                  <a:srgbClr val="BCBEC4"/>
                </a:solidFill>
                <a:effectLst/>
                <a:latin typeface="JetBrains Mono"/>
              </a:rPr>
              <a:t> </a:t>
            </a:r>
            <a:r>
              <a:rPr lang="en-US" sz="1100" dirty="0" err="1">
                <a:solidFill>
                  <a:schemeClr val="accent3">
                    <a:lumMod val="75000"/>
                  </a:schemeClr>
                </a:solidFill>
                <a:effectLst/>
                <a:latin typeface="JetBrains Mono"/>
              </a:rPr>
              <a:t>resistance_level</a:t>
            </a:r>
            <a:r>
              <a:rPr lang="en-US" sz="1100" dirty="0">
                <a:solidFill>
                  <a:schemeClr val="accent3"/>
                </a:solidFill>
                <a:effectLst/>
                <a:latin typeface="JetBrains Mono"/>
              </a:rPr>
              <a:t>,</a:t>
            </a:r>
            <a:r>
              <a:rPr lang="en-US" sz="1100" dirty="0">
                <a:solidFill>
                  <a:srgbClr val="BCBEC4"/>
                </a:solidFill>
                <a:effectLst/>
                <a:latin typeface="JetBrains Mono"/>
              </a:rPr>
              <a:t> </a:t>
            </a:r>
            <a:r>
              <a:rPr lang="en-US" sz="1100" dirty="0" err="1">
                <a:solidFill>
                  <a:schemeClr val="accent3">
                    <a:lumMod val="75000"/>
                  </a:schemeClr>
                </a:solidFill>
                <a:effectLst/>
                <a:latin typeface="JetBrains Mono"/>
              </a:rPr>
              <a:t>baseline_watts</a:t>
            </a:r>
            <a:r>
              <a:rPr lang="en-US" sz="1100" dirty="0">
                <a:solidFill>
                  <a:schemeClr val="accent3"/>
                </a:solidFill>
                <a:effectLst/>
                <a:latin typeface="JetBrains Mono"/>
              </a:rPr>
              <a:t>):</a:t>
            </a:r>
            <a:br>
              <a:rPr lang="en-US" sz="1100" dirty="0">
                <a:solidFill>
                  <a:srgbClr val="BCBEC4"/>
                </a:solidFill>
                <a:effectLst/>
                <a:latin typeface="JetBrains Mono"/>
              </a:rPr>
            </a:br>
            <a:r>
              <a:rPr lang="en-US" sz="1100" dirty="0">
                <a:solidFill>
                  <a:schemeClr val="accent6">
                    <a:lumMod val="50000"/>
                  </a:schemeClr>
                </a:solidFill>
                <a:effectLst/>
                <a:latin typeface="JetBrains Mono"/>
              </a:rPr>
              <a:t>    </a:t>
            </a:r>
            <a:r>
              <a:rPr lang="en-US" sz="1100" i="1" dirty="0">
                <a:solidFill>
                  <a:schemeClr val="accent6">
                    <a:lumMod val="50000"/>
                  </a:schemeClr>
                </a:solidFill>
                <a:effectLst/>
                <a:latin typeface="JetBrains Mono"/>
              </a:rPr>
              <a:t>"""</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Calculate a normalized wattage credit for a member's workout session.</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Parameters:</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r>
              <a:rPr lang="en-US" sz="1100" i="1" dirty="0" err="1">
                <a:solidFill>
                  <a:schemeClr val="accent6">
                    <a:lumMod val="50000"/>
                  </a:schemeClr>
                </a:solidFill>
                <a:effectLst/>
                <a:latin typeface="JetBrains Mono"/>
              </a:rPr>
              <a:t>raw_watts</a:t>
            </a:r>
            <a:r>
              <a:rPr lang="en-US" sz="1100" i="1" dirty="0">
                <a:solidFill>
                  <a:schemeClr val="accent6">
                    <a:lumMod val="50000"/>
                  </a:schemeClr>
                </a:solidFill>
                <a:effectLst/>
                <a:latin typeface="JetBrains Mono"/>
              </a:rPr>
              <a:t> (float): Average wattage generated during session</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r>
              <a:rPr lang="en-US" sz="1100" i="1" dirty="0" err="1">
                <a:solidFill>
                  <a:schemeClr val="accent6">
                    <a:lumMod val="50000"/>
                  </a:schemeClr>
                </a:solidFill>
                <a:effectLst/>
                <a:latin typeface="JetBrains Mono"/>
              </a:rPr>
              <a:t>duration_seconds</a:t>
            </a:r>
            <a:r>
              <a:rPr lang="en-US" sz="1100" i="1" dirty="0">
                <a:solidFill>
                  <a:schemeClr val="accent6">
                    <a:lumMod val="50000"/>
                  </a:schemeClr>
                </a:solidFill>
                <a:effectLst/>
                <a:latin typeface="JetBrains Mono"/>
              </a:rPr>
              <a:t> (int): Total session duration in seconds</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r>
              <a:rPr lang="en-US" sz="1100" i="1" dirty="0" err="1">
                <a:solidFill>
                  <a:schemeClr val="accent6">
                    <a:lumMod val="50000"/>
                  </a:schemeClr>
                </a:solidFill>
                <a:effectLst/>
                <a:latin typeface="JetBrains Mono"/>
              </a:rPr>
              <a:t>resistance_level</a:t>
            </a:r>
            <a:r>
              <a:rPr lang="en-US" sz="1100" i="1" dirty="0">
                <a:solidFill>
                  <a:schemeClr val="accent6">
                    <a:lumMod val="50000"/>
                  </a:schemeClr>
                </a:solidFill>
                <a:effectLst/>
                <a:latin typeface="JetBrains Mono"/>
              </a:rPr>
              <a:t> (int): Machine resistance setting (1-10)</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r>
              <a:rPr lang="en-US" sz="1100" i="1" dirty="0" err="1">
                <a:solidFill>
                  <a:schemeClr val="accent6">
                    <a:lumMod val="50000"/>
                  </a:schemeClr>
                </a:solidFill>
                <a:effectLst/>
                <a:latin typeface="JetBrains Mono"/>
              </a:rPr>
              <a:t>baseline_watts</a:t>
            </a:r>
            <a:r>
              <a:rPr lang="en-US" sz="1100" i="1" dirty="0">
                <a:solidFill>
                  <a:schemeClr val="accent6">
                    <a:lumMod val="50000"/>
                  </a:schemeClr>
                </a:solidFill>
                <a:effectLst/>
                <a:latin typeface="JetBrains Mono"/>
              </a:rPr>
              <a:t> (float): Member's historical average wattage output</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Returns:</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float: Normalized wattage credit to apply to Watt Wallet</a:t>
            </a:r>
            <a:br>
              <a:rPr lang="en-US" sz="1100" i="1" dirty="0">
                <a:solidFill>
                  <a:schemeClr val="accent6">
                    <a:lumMod val="50000"/>
                  </a:schemeClr>
                </a:solidFill>
                <a:effectLst/>
                <a:latin typeface="JetBrains Mono"/>
              </a:rPr>
            </a:br>
            <a:r>
              <a:rPr lang="en-US" sz="1100" i="1" dirty="0">
                <a:solidFill>
                  <a:schemeClr val="accent6">
                    <a:lumMod val="50000"/>
                  </a:schemeClr>
                </a:solidFill>
                <a:effectLst/>
                <a:latin typeface="JetBrains Mono"/>
              </a:rPr>
              <a:t>    """</a:t>
            </a:r>
            <a:br>
              <a:rPr lang="en-US" sz="1100" i="1" dirty="0">
                <a:solidFill>
                  <a:srgbClr val="5F826B"/>
                </a:solidFill>
                <a:effectLst/>
                <a:latin typeface="JetBrains Mono"/>
              </a:rPr>
            </a:br>
            <a:r>
              <a:rPr lang="en-US" sz="1100" i="1" dirty="0">
                <a:solidFill>
                  <a:srgbClr val="5F826B"/>
                </a:solidFill>
                <a:effectLst/>
                <a:latin typeface="JetBrains Mono"/>
              </a:rPr>
              <a:t>    </a:t>
            </a:r>
            <a:r>
              <a:rPr lang="en-US" sz="1100" dirty="0">
                <a:solidFill>
                  <a:schemeClr val="accent2">
                    <a:lumMod val="75000"/>
                  </a:schemeClr>
                </a:solidFill>
                <a:effectLst/>
                <a:latin typeface="JetBrains Mono"/>
              </a:rPr>
              <a:t>pass</a:t>
            </a:r>
            <a:r>
              <a:rPr lang="en-US" sz="1100" dirty="0">
                <a:solidFill>
                  <a:srgbClr val="CF8E6D"/>
                </a:solidFill>
                <a:effectLst/>
                <a:latin typeface="JetBrains Mono"/>
              </a:rPr>
              <a:t>  </a:t>
            </a:r>
            <a:r>
              <a:rPr lang="en-US" sz="1100" dirty="0">
                <a:solidFill>
                  <a:schemeClr val="accent3">
                    <a:lumMod val="75000"/>
                  </a:schemeClr>
                </a:solidFill>
                <a:effectLst/>
                <a:latin typeface="JetBrains Mono"/>
              </a:rPr>
              <a:t># Implementation coming in Unit 5</a:t>
            </a:r>
            <a:br>
              <a:rPr lang="en-US" sz="1100" dirty="0">
                <a:solidFill>
                  <a:schemeClr val="accent3">
                    <a:lumMod val="75000"/>
                  </a:schemeClr>
                </a:solidFill>
                <a:effectLst/>
                <a:latin typeface="JetBrains Mono"/>
              </a:rPr>
            </a:br>
            <a:br>
              <a:rPr lang="en-US" sz="1100" dirty="0">
                <a:solidFill>
                  <a:srgbClr val="7A7E85"/>
                </a:solidFill>
                <a:effectLst/>
                <a:latin typeface="JetBrains Mono"/>
              </a:rPr>
            </a:br>
            <a:br>
              <a:rPr lang="en-US" sz="1100" dirty="0">
                <a:solidFill>
                  <a:srgbClr val="7A7E85"/>
                </a:solidFill>
                <a:effectLst/>
                <a:latin typeface="JetBrains Mono"/>
              </a:rPr>
            </a:br>
            <a:r>
              <a:rPr lang="en-US" sz="1100" dirty="0">
                <a:solidFill>
                  <a:schemeClr val="accent2">
                    <a:lumMod val="75000"/>
                  </a:schemeClr>
                </a:solidFill>
                <a:effectLst/>
                <a:latin typeface="JetBrains Mono"/>
              </a:rPr>
              <a:t>if</a:t>
            </a:r>
            <a:r>
              <a:rPr lang="en-US" sz="1100" dirty="0">
                <a:solidFill>
                  <a:srgbClr val="CF8E6D"/>
                </a:solidFill>
                <a:effectLst/>
                <a:latin typeface="JetBrains Mono"/>
              </a:rPr>
              <a:t> </a:t>
            </a:r>
            <a:r>
              <a:rPr lang="en-US" sz="1100" dirty="0">
                <a:solidFill>
                  <a:schemeClr val="accent3"/>
                </a:solidFill>
                <a:effectLst/>
                <a:latin typeface="JetBrains Mono"/>
              </a:rPr>
              <a:t>__name__ == </a:t>
            </a:r>
            <a:r>
              <a:rPr lang="en-US" sz="1100" dirty="0">
                <a:solidFill>
                  <a:srgbClr val="00B050"/>
                </a:solidFill>
                <a:effectLst/>
                <a:latin typeface="JetBrains Mono"/>
              </a:rPr>
              <a:t>"__main__"</a:t>
            </a:r>
            <a:r>
              <a:rPr lang="en-US" sz="1100" dirty="0">
                <a:solidFill>
                  <a:srgbClr val="BCBEC4"/>
                </a:solidFill>
                <a:effectLst/>
                <a:latin typeface="JetBrains Mono"/>
              </a:rPr>
              <a:t>:</a:t>
            </a:r>
            <a:br>
              <a:rPr lang="en-US" sz="1100" dirty="0">
                <a:solidFill>
                  <a:srgbClr val="BCBEC4"/>
                </a:solidFill>
                <a:effectLst/>
                <a:latin typeface="JetBrains Mono"/>
              </a:rPr>
            </a:br>
            <a:r>
              <a:rPr lang="en-US" sz="1100" dirty="0">
                <a:solidFill>
                  <a:srgbClr val="BCBEC4"/>
                </a:solidFill>
                <a:effectLst/>
                <a:latin typeface="JetBrains Mono"/>
              </a:rPr>
              <a:t>    </a:t>
            </a:r>
            <a:r>
              <a:rPr lang="en-US" sz="1100" dirty="0">
                <a:solidFill>
                  <a:schemeClr val="accent1">
                    <a:lumMod val="75000"/>
                  </a:schemeClr>
                </a:solidFill>
                <a:effectLst/>
                <a:latin typeface="JetBrains Mono"/>
              </a:rPr>
              <a:t>print</a:t>
            </a:r>
            <a:r>
              <a:rPr lang="en-US" sz="1100" dirty="0">
                <a:solidFill>
                  <a:srgbClr val="BCBEC4"/>
                </a:solidFill>
                <a:effectLst/>
                <a:latin typeface="JetBrains Mono"/>
              </a:rPr>
              <a:t>(</a:t>
            </a:r>
            <a:r>
              <a:rPr lang="en-US" sz="1100" dirty="0">
                <a:solidFill>
                  <a:srgbClr val="6AAB73"/>
                </a:solidFill>
                <a:effectLst/>
                <a:latin typeface="JetBrains Mono"/>
              </a:rPr>
              <a:t>"</a:t>
            </a:r>
            <a:r>
              <a:rPr lang="en-US" sz="1100" dirty="0">
                <a:solidFill>
                  <a:srgbClr val="00B050"/>
                </a:solidFill>
                <a:effectLst/>
                <a:latin typeface="JetBrains Mono"/>
              </a:rPr>
              <a:t>Watt Calculator - Power Plant Fitness"</a:t>
            </a:r>
            <a:r>
              <a:rPr lang="en-US" sz="1100" dirty="0">
                <a:solidFill>
                  <a:srgbClr val="BCBEC4"/>
                </a:solidFill>
                <a:effectLst/>
                <a:latin typeface="JetBrains Mono"/>
              </a:rPr>
              <a:t>)</a:t>
            </a:r>
            <a:br>
              <a:rPr lang="en-US" sz="1100" dirty="0">
                <a:solidFill>
                  <a:srgbClr val="BCBEC4"/>
                </a:solidFill>
                <a:effectLst/>
                <a:latin typeface="JetBrains Mono"/>
              </a:rPr>
            </a:br>
            <a:r>
              <a:rPr lang="en-US" sz="1100" dirty="0">
                <a:solidFill>
                  <a:srgbClr val="BCBEC4"/>
                </a:solidFill>
                <a:effectLst/>
                <a:latin typeface="JetBrains Mono"/>
              </a:rPr>
              <a:t>    </a:t>
            </a:r>
            <a:r>
              <a:rPr lang="en-US" sz="1100" dirty="0">
                <a:solidFill>
                  <a:schemeClr val="accent1">
                    <a:lumMod val="75000"/>
                  </a:schemeClr>
                </a:solidFill>
                <a:effectLst/>
                <a:latin typeface="JetBrains Mono"/>
              </a:rPr>
              <a:t>print</a:t>
            </a:r>
            <a:r>
              <a:rPr lang="en-US" sz="1100" dirty="0">
                <a:solidFill>
                  <a:srgbClr val="BCBEC4"/>
                </a:solidFill>
                <a:effectLst/>
                <a:latin typeface="JetBrains Mono"/>
              </a:rPr>
              <a:t>(</a:t>
            </a:r>
            <a:r>
              <a:rPr lang="en-US" sz="1100" dirty="0">
                <a:solidFill>
                  <a:srgbClr val="6AAB73"/>
                </a:solidFill>
                <a:effectLst/>
                <a:latin typeface="JetBrains Mono"/>
              </a:rPr>
              <a:t>"</a:t>
            </a:r>
            <a:r>
              <a:rPr lang="en-US" sz="1100" dirty="0">
                <a:solidFill>
                  <a:srgbClr val="00B050"/>
                </a:solidFill>
                <a:effectLst/>
                <a:latin typeface="JetBrains Mono"/>
              </a:rPr>
              <a:t>Implementation pending Unit 5"</a:t>
            </a:r>
            <a:r>
              <a:rPr lang="en-US" sz="1100" dirty="0">
                <a:solidFill>
                  <a:srgbClr val="BCBEC4"/>
                </a:solidFill>
                <a:effectLst/>
                <a:latin typeface="JetBrains Mono"/>
              </a:rPr>
              <a:t>)</a:t>
            </a:r>
          </a:p>
        </p:txBody>
      </p:sp>
      <p:pic>
        <p:nvPicPr>
          <p:cNvPr id="5" name="Image 0" descr="preencoded.png"/>
          <p:cNvPicPr>
            <a:picLocks noChangeAspect="1"/>
          </p:cNvPicPr>
          <p:nvPr/>
        </p:nvPicPr>
        <p:blipFill>
          <a:blip r:embed="rId3"/>
          <a:stretch>
            <a:fillRect/>
          </a:stretch>
        </p:blipFill>
        <p:spPr>
          <a:xfrm>
            <a:off x="7497649" y="-4745"/>
            <a:ext cx="1645920" cy="1645920"/>
          </a:xfrm>
          <a:prstGeom prst="rect">
            <a:avLst/>
          </a:prstGeom>
        </p:spPr>
      </p:pic>
      <p:grpSp>
        <p:nvGrpSpPr>
          <p:cNvPr id="9" name="Group 8">
            <a:extLst>
              <a:ext uri="{FF2B5EF4-FFF2-40B4-BE49-F238E27FC236}">
                <a16:creationId xmlns:a16="http://schemas.microsoft.com/office/drawing/2014/main" id="{3421E1C3-F681-4E90-B92E-2E9E9CF09530}"/>
              </a:ext>
            </a:extLst>
          </p:cNvPr>
          <p:cNvGrpSpPr/>
          <p:nvPr/>
        </p:nvGrpSpPr>
        <p:grpSpPr>
          <a:xfrm>
            <a:off x="5895832" y="3584213"/>
            <a:ext cx="2593074" cy="1046440"/>
            <a:chOff x="5591033" y="2975717"/>
            <a:chExt cx="2593074" cy="1046440"/>
          </a:xfrm>
        </p:grpSpPr>
        <p:sp>
          <p:nvSpPr>
            <p:cNvPr id="7" name="TextBox 6">
              <a:extLst>
                <a:ext uri="{FF2B5EF4-FFF2-40B4-BE49-F238E27FC236}">
                  <a16:creationId xmlns:a16="http://schemas.microsoft.com/office/drawing/2014/main" id="{41E8A874-7601-26A4-44CE-75A8707E2F1A}"/>
                </a:ext>
              </a:extLst>
            </p:cNvPr>
            <p:cNvSpPr txBox="1"/>
            <p:nvPr/>
          </p:nvSpPr>
          <p:spPr>
            <a:xfrm>
              <a:off x="5591033" y="3252716"/>
              <a:ext cx="2593074" cy="769441"/>
            </a:xfrm>
            <a:prstGeom prst="rect">
              <a:avLst/>
            </a:prstGeom>
            <a:noFill/>
            <a:ln>
              <a:solidFill>
                <a:srgbClr val="D4E8DC"/>
              </a:solidFill>
            </a:ln>
          </p:spPr>
          <p:txBody>
            <a:bodyPr wrap="square" rtlCol="0">
              <a:spAutoFit/>
            </a:bodyPr>
            <a:lstStyle/>
            <a:p>
              <a:r>
                <a:rPr lang="en-US" sz="1100" dirty="0">
                  <a:latin typeface="JetBrains Mono"/>
                </a:rPr>
                <a:t>Watt Calculator - Power Plant Fitness</a:t>
              </a:r>
            </a:p>
            <a:p>
              <a:r>
                <a:rPr lang="en-US" sz="1100" dirty="0">
                  <a:latin typeface="JetBrains Mono"/>
                </a:rPr>
                <a:t>Implementation pending Unit 5</a:t>
              </a:r>
            </a:p>
            <a:p>
              <a:endParaRPr lang="en-US" sz="1100" dirty="0">
                <a:latin typeface="JetBrains Mono"/>
              </a:endParaRPr>
            </a:p>
            <a:p>
              <a:r>
                <a:rPr lang="en-US" sz="1100" dirty="0">
                  <a:latin typeface="JetBrains Mono"/>
                </a:rPr>
                <a:t>Process finished with exit code 0</a:t>
              </a:r>
            </a:p>
          </p:txBody>
        </p:sp>
        <p:sp>
          <p:nvSpPr>
            <p:cNvPr id="8" name="TextBox 7">
              <a:extLst>
                <a:ext uri="{FF2B5EF4-FFF2-40B4-BE49-F238E27FC236}">
                  <a16:creationId xmlns:a16="http://schemas.microsoft.com/office/drawing/2014/main" id="{C72F1024-1E5E-2D70-4208-274E8ADADA23}"/>
                </a:ext>
              </a:extLst>
            </p:cNvPr>
            <p:cNvSpPr txBox="1"/>
            <p:nvPr/>
          </p:nvSpPr>
          <p:spPr>
            <a:xfrm>
              <a:off x="5591033" y="2975717"/>
              <a:ext cx="2593074" cy="276999"/>
            </a:xfrm>
            <a:prstGeom prst="rect">
              <a:avLst/>
            </a:prstGeom>
            <a:solidFill>
              <a:srgbClr val="EEF4EE"/>
            </a:solidFill>
            <a:ln>
              <a:solidFill>
                <a:srgbClr val="D4E8DC"/>
              </a:solidFill>
            </a:ln>
          </p:spPr>
          <p:txBody>
            <a:bodyPr wrap="square" rtlCol="0">
              <a:spAutoFit/>
            </a:bodyPr>
            <a:lstStyle/>
            <a:p>
              <a:r>
                <a:rPr lang="en-US" sz="1200" dirty="0">
                  <a:solidFill>
                    <a:schemeClr val="accent6">
                      <a:lumMod val="50000"/>
                    </a:schemeClr>
                  </a:solidFill>
                </a:rPr>
                <a:t>Output</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Shape 0"/>
          <p:cNvSpPr/>
          <p:nvPr/>
        </p:nvSpPr>
        <p:spPr>
          <a:xfrm>
            <a:off x="0" y="0"/>
            <a:ext cx="9144000" cy="868680"/>
          </a:xfrm>
          <a:prstGeom prst="rect">
            <a:avLst/>
          </a:prstGeom>
          <a:solidFill>
            <a:srgbClr val="EEF4EE"/>
          </a:solidFill>
          <a:ln/>
        </p:spPr>
        <p:txBody>
          <a:bodyPr/>
          <a:lstStyle/>
          <a:p>
            <a:endParaRPr lang="en-US"/>
          </a:p>
        </p:txBody>
      </p:sp>
      <p:sp>
        <p:nvSpPr>
          <p:cNvPr id="5" name="Text 1"/>
          <p:cNvSpPr/>
          <p:nvPr/>
        </p:nvSpPr>
        <p:spPr>
          <a:xfrm>
            <a:off x="640080" y="109728"/>
            <a:ext cx="7772400" cy="640080"/>
          </a:xfrm>
          <a:prstGeom prst="rect">
            <a:avLst/>
          </a:prstGeom>
          <a:noFill/>
          <a:ln/>
        </p:spPr>
        <p:txBody>
          <a:bodyPr wrap="square" lIns="0" tIns="0" rIns="0" bIns="0" rtlCol="0" anchor="ctr"/>
          <a:lstStyle/>
          <a:p>
            <a:pPr marL="0" indent="0" algn="l">
              <a:buNone/>
            </a:pPr>
            <a:r>
              <a:rPr lang="en-US" sz="2800" b="1" dirty="0">
                <a:solidFill>
                  <a:srgbClr val="3D6B4F"/>
                </a:solidFill>
                <a:latin typeface="Georgia" pitchFamily="34" charset="0"/>
                <a:ea typeface="Georgia" pitchFamily="34" charset="-122"/>
                <a:cs typeface="Georgia" pitchFamily="34" charset="-120"/>
              </a:rPr>
              <a:t>Architecture Guided Implementation</a:t>
            </a:r>
            <a:endParaRPr lang="en-US" sz="2800" dirty="0"/>
          </a:p>
        </p:txBody>
      </p:sp>
      <p:sp>
        <p:nvSpPr>
          <p:cNvPr id="6" name="Text 2"/>
          <p:cNvSpPr/>
          <p:nvPr/>
        </p:nvSpPr>
        <p:spPr>
          <a:xfrm>
            <a:off x="822960" y="1143000"/>
            <a:ext cx="6583680" cy="3566160"/>
          </a:xfrm>
          <a:prstGeom prst="rect">
            <a:avLst/>
          </a:prstGeom>
          <a:noFill/>
          <a:ln/>
        </p:spPr>
        <p:txBody>
          <a:bodyPr wrap="square" rtlCol="0" anchor="t"/>
          <a:lstStyle/>
          <a:p>
            <a:pPr marL="342900" indent="-342900" algn="l">
              <a:lnSpc>
                <a:spcPct val="115000"/>
              </a:lnSpc>
              <a:spcAft>
                <a:spcPts val="1000"/>
              </a:spcAft>
              <a:buSzPct val="100000"/>
              <a:buChar char="•"/>
            </a:pPr>
            <a:r>
              <a:rPr lang="en-US" sz="1500" dirty="0">
                <a:solidFill>
                  <a:srgbClr val="2D3B2D"/>
                </a:solidFill>
                <a:latin typeface="Calibri" pitchFamily="34" charset="0"/>
                <a:ea typeface="Calibri" pitchFamily="34" charset="-122"/>
                <a:cs typeface="Calibri" pitchFamily="34" charset="-120"/>
              </a:rPr>
              <a:t>The three-layer architecture (Physical, Local Infrastructure, Cloud) guided all design decisions from the ground up</a:t>
            </a:r>
          </a:p>
          <a:p>
            <a:pPr marL="342900" indent="-342900" algn="l">
              <a:lnSpc>
                <a:spcPct val="115000"/>
              </a:lnSpc>
              <a:spcAft>
                <a:spcPts val="1000"/>
              </a:spcAft>
              <a:buSzPct val="100000"/>
              <a:buChar char="•"/>
            </a:pPr>
            <a:r>
              <a:rPr lang="en-US" sz="1500" dirty="0">
                <a:solidFill>
                  <a:srgbClr val="2D3B2D"/>
                </a:solidFill>
                <a:latin typeface="Calibri" pitchFamily="34" charset="0"/>
                <a:ea typeface="Calibri" pitchFamily="34" charset="-122"/>
                <a:cs typeface="Calibri" pitchFamily="34" charset="-120"/>
              </a:rPr>
              <a:t>The modular component design directly shaped each deliverable</a:t>
            </a:r>
          </a:p>
          <a:p>
            <a:pPr marL="342900" indent="-342900">
              <a:lnSpc>
                <a:spcPct val="115000"/>
              </a:lnSpc>
              <a:spcAft>
                <a:spcPts val="1000"/>
              </a:spcAft>
              <a:buSzPct val="100000"/>
              <a:buChar char="•"/>
            </a:pPr>
            <a:r>
              <a:rPr lang="en-US" sz="1500" dirty="0">
                <a:solidFill>
                  <a:srgbClr val="2D3B2D"/>
                </a:solidFill>
                <a:latin typeface="Calibri" pitchFamily="34" charset="0"/>
                <a:ea typeface="Calibri" pitchFamily="34" charset="-122"/>
                <a:cs typeface="Calibri" pitchFamily="34" charset="-120"/>
              </a:rPr>
              <a:t>Security and ethics were embedded at the design stage rather than added as afterthoughts</a:t>
            </a:r>
          </a:p>
          <a:p>
            <a:pPr marL="342900" indent="-342900" algn="l">
              <a:lnSpc>
                <a:spcPct val="115000"/>
              </a:lnSpc>
              <a:spcAft>
                <a:spcPts val="1000"/>
              </a:spcAft>
              <a:buSzPct val="100000"/>
              <a:buChar char="•"/>
            </a:pPr>
            <a:r>
              <a:rPr lang="en-US" sz="1500" dirty="0">
                <a:solidFill>
                  <a:srgbClr val="2D3B2D"/>
                </a:solidFill>
                <a:latin typeface="Calibri" pitchFamily="34" charset="0"/>
                <a:ea typeface="Calibri" pitchFamily="34" charset="-122"/>
                <a:cs typeface="Calibri" pitchFamily="34" charset="-120"/>
              </a:rPr>
              <a:t>The normalization algorithm was designed to reflect the fairness principle established in the system’s ethical framework</a:t>
            </a:r>
          </a:p>
          <a:p>
            <a:pPr marL="342900" indent="-342900" algn="l">
              <a:lnSpc>
                <a:spcPct val="115000"/>
              </a:lnSpc>
              <a:spcAft>
                <a:spcPts val="1000"/>
              </a:spcAft>
              <a:buSzPct val="100000"/>
              <a:buChar char="•"/>
            </a:pPr>
            <a:r>
              <a:rPr lang="en-US" sz="1500" dirty="0">
                <a:solidFill>
                  <a:srgbClr val="2D3B2D"/>
                </a:solidFill>
                <a:latin typeface="Calibri" pitchFamily="34" charset="0"/>
                <a:ea typeface="Calibri" pitchFamily="34" charset="-122"/>
                <a:cs typeface="Calibri" pitchFamily="34" charset="-120"/>
              </a:rPr>
              <a:t>Git’s two-branch workflow mirrors the architecture’s separation of stable (main) and active development (development) environments</a:t>
            </a:r>
            <a:endParaRPr lang="en-US" sz="1500" dirty="0"/>
          </a:p>
        </p:txBody>
      </p:sp>
      <p:pic>
        <p:nvPicPr>
          <p:cNvPr id="2" name="Image 0" descr="preencoded.png"/>
          <p:cNvPicPr>
            <a:picLocks noChangeAspect="1"/>
          </p:cNvPicPr>
          <p:nvPr/>
        </p:nvPicPr>
        <p:blipFill>
          <a:blip r:embed="rId3"/>
          <a:stretch>
            <a:fillRect/>
          </a:stretch>
        </p:blipFill>
        <p:spPr>
          <a:xfrm>
            <a:off x="7314769" y="431"/>
            <a:ext cx="1828800" cy="1828800"/>
          </a:xfrm>
          <a:prstGeom prst="rect">
            <a:avLst/>
          </a:prstGeom>
        </p:spPr>
      </p:pic>
      <p:pic>
        <p:nvPicPr>
          <p:cNvPr id="3" name="Image 1" descr="preencoded.png"/>
          <p:cNvPicPr>
            <a:picLocks noChangeAspect="1"/>
          </p:cNvPicPr>
          <p:nvPr/>
        </p:nvPicPr>
        <p:blipFill>
          <a:blip r:embed="rId4"/>
          <a:stretch>
            <a:fillRect/>
          </a:stretch>
        </p:blipFill>
        <p:spPr>
          <a:xfrm>
            <a:off x="0" y="3314700"/>
            <a:ext cx="1828800" cy="1828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9F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766129" y="431"/>
            <a:ext cx="2377440" cy="2377440"/>
          </a:xfrm>
          <a:prstGeom prst="rect">
            <a:avLst/>
          </a:prstGeom>
        </p:spPr>
      </p:pic>
      <p:pic>
        <p:nvPicPr>
          <p:cNvPr id="3" name="Image 1" descr="preencoded.png"/>
          <p:cNvPicPr>
            <a:picLocks noChangeAspect="1"/>
          </p:cNvPicPr>
          <p:nvPr/>
        </p:nvPicPr>
        <p:blipFill>
          <a:blip r:embed="rId4"/>
          <a:stretch>
            <a:fillRect/>
          </a:stretch>
        </p:blipFill>
        <p:spPr>
          <a:xfrm>
            <a:off x="431" y="2764335"/>
            <a:ext cx="2377440" cy="2377440"/>
          </a:xfrm>
          <a:prstGeom prst="rect">
            <a:avLst/>
          </a:prstGeom>
        </p:spPr>
      </p:pic>
      <p:sp>
        <p:nvSpPr>
          <p:cNvPr id="4" name="Text 0"/>
          <p:cNvSpPr/>
          <p:nvPr/>
        </p:nvSpPr>
        <p:spPr>
          <a:xfrm>
            <a:off x="1097280" y="822960"/>
            <a:ext cx="6949440" cy="914400"/>
          </a:xfrm>
          <a:prstGeom prst="rect">
            <a:avLst/>
          </a:prstGeom>
          <a:noFill/>
          <a:ln/>
        </p:spPr>
        <p:txBody>
          <a:bodyPr wrap="square" lIns="0" tIns="0" rIns="0" bIns="0" rtlCol="0" anchor="ctr"/>
          <a:lstStyle/>
          <a:p>
            <a:pPr marL="0" indent="0" algn="ctr">
              <a:buNone/>
            </a:pPr>
            <a:r>
              <a:rPr lang="en-US" sz="3600" b="1" dirty="0">
                <a:solidFill>
                  <a:srgbClr val="3D6B4F"/>
                </a:solidFill>
                <a:latin typeface="Georgia" pitchFamily="34" charset="0"/>
                <a:ea typeface="Georgia" pitchFamily="34" charset="-122"/>
                <a:cs typeface="Georgia" pitchFamily="34" charset="-120"/>
              </a:rPr>
              <a:t>Thank You &amp; What’s Next</a:t>
            </a:r>
            <a:endParaRPr lang="en-US" sz="3600" dirty="0"/>
          </a:p>
        </p:txBody>
      </p:sp>
      <p:sp>
        <p:nvSpPr>
          <p:cNvPr id="5" name="Shape 1"/>
          <p:cNvSpPr/>
          <p:nvPr/>
        </p:nvSpPr>
        <p:spPr>
          <a:xfrm>
            <a:off x="3474720" y="1828800"/>
            <a:ext cx="2194560" cy="18288"/>
          </a:xfrm>
          <a:prstGeom prst="rect">
            <a:avLst/>
          </a:prstGeom>
          <a:solidFill>
            <a:srgbClr val="84B59F">
              <a:alpha val="70000"/>
            </a:srgbClr>
          </a:solidFill>
          <a:ln/>
        </p:spPr>
        <p:txBody>
          <a:bodyPr/>
          <a:lstStyle/>
          <a:p>
            <a:endParaRPr lang="en-US"/>
          </a:p>
        </p:txBody>
      </p:sp>
      <p:sp>
        <p:nvSpPr>
          <p:cNvPr id="6" name="Text 2"/>
          <p:cNvSpPr/>
          <p:nvPr/>
        </p:nvSpPr>
        <p:spPr>
          <a:xfrm>
            <a:off x="1371600" y="2103120"/>
            <a:ext cx="6400800" cy="2011680"/>
          </a:xfrm>
          <a:prstGeom prst="rect">
            <a:avLst/>
          </a:prstGeom>
          <a:noFill/>
          <a:ln/>
        </p:spPr>
        <p:txBody>
          <a:bodyPr wrap="square" rtlCol="0" anchor="t">
            <a:normAutofit fontScale="85000" lnSpcReduction="10000"/>
          </a:bodyPr>
          <a:lstStyle/>
          <a:p>
            <a:pPr marL="342900" indent="-342900" algn="l">
              <a:lnSpc>
                <a:spcPct val="115000"/>
              </a:lnSpc>
              <a:spcAft>
                <a:spcPts val="800"/>
              </a:spcAft>
              <a:buSzPct val="100000"/>
              <a:buChar char="•"/>
            </a:pPr>
            <a:r>
              <a:rPr lang="en-US" sz="1500" dirty="0">
                <a:solidFill>
                  <a:srgbClr val="2D3B2D"/>
                </a:solidFill>
                <a:latin typeface="Calibri" pitchFamily="34" charset="0"/>
                <a:ea typeface="Calibri" pitchFamily="34" charset="-122"/>
                <a:cs typeface="Calibri" pitchFamily="34" charset="-120"/>
              </a:rPr>
              <a:t>Finish the mockup for the elliptical machine interface</a:t>
            </a:r>
            <a:endParaRPr lang="en-US" sz="1500" dirty="0"/>
          </a:p>
          <a:p>
            <a:pPr marL="342900" indent="-342900" algn="l">
              <a:lnSpc>
                <a:spcPct val="115000"/>
              </a:lnSpc>
              <a:spcAft>
                <a:spcPts val="800"/>
              </a:spcAft>
              <a:buSzPct val="100000"/>
              <a:buChar char="•"/>
            </a:pPr>
            <a:r>
              <a:rPr lang="en-US" sz="1500" dirty="0">
                <a:solidFill>
                  <a:srgbClr val="2D3B2D"/>
                </a:solidFill>
                <a:latin typeface="Calibri" pitchFamily="34" charset="0"/>
                <a:ea typeface="Calibri" pitchFamily="34" charset="-122"/>
                <a:cs typeface="Calibri" pitchFamily="34" charset="-120"/>
              </a:rPr>
              <a:t>Implement and demonstrate the full wattage normalization algorithm</a:t>
            </a:r>
          </a:p>
          <a:p>
            <a:pPr marL="342900" indent="-342900" algn="l">
              <a:lnSpc>
                <a:spcPct val="115000"/>
              </a:lnSpc>
              <a:spcAft>
                <a:spcPts val="800"/>
              </a:spcAft>
              <a:buSzPct val="100000"/>
              <a:buChar char="•"/>
            </a:pPr>
            <a:r>
              <a:rPr lang="en-US" sz="1500" dirty="0">
                <a:solidFill>
                  <a:srgbClr val="2D3B2D"/>
                </a:solidFill>
                <a:latin typeface="Calibri" pitchFamily="34" charset="0"/>
                <a:ea typeface="Calibri" pitchFamily="34" charset="-122"/>
                <a:cs typeface="Calibri" pitchFamily="34" charset="-120"/>
              </a:rPr>
              <a:t>Assemble an integration, performance evaluation &amp; deployment planning document</a:t>
            </a:r>
          </a:p>
          <a:p>
            <a:pPr marL="342900" indent="-342900" algn="l">
              <a:lnSpc>
                <a:spcPct val="115000"/>
              </a:lnSpc>
              <a:spcAft>
                <a:spcPts val="800"/>
              </a:spcAft>
              <a:buSzPct val="100000"/>
              <a:buChar char="•"/>
            </a:pPr>
            <a:r>
              <a:rPr lang="en-US" sz="1500" dirty="0">
                <a:solidFill>
                  <a:srgbClr val="2D3B2D"/>
                </a:solidFill>
                <a:latin typeface="Calibri" pitchFamily="34" charset="0"/>
                <a:ea typeface="Calibri" pitchFamily="34" charset="-122"/>
                <a:cs typeface="Calibri" pitchFamily="34" charset="-120"/>
              </a:rPr>
              <a:t>Write up technical documentation</a:t>
            </a:r>
          </a:p>
          <a:p>
            <a:pPr marL="342900" indent="-342900" algn="l">
              <a:lnSpc>
                <a:spcPct val="115000"/>
              </a:lnSpc>
              <a:spcAft>
                <a:spcPts val="1600"/>
              </a:spcAft>
              <a:buSzPct val="100000"/>
              <a:buChar char="•"/>
            </a:pPr>
            <a:r>
              <a:rPr lang="en-US" sz="1500" dirty="0">
                <a:solidFill>
                  <a:srgbClr val="2D3B2D"/>
                </a:solidFill>
                <a:latin typeface="Calibri" pitchFamily="34" charset="0"/>
                <a:ea typeface="Calibri" pitchFamily="34" charset="-122"/>
                <a:cs typeface="Calibri" pitchFamily="34" charset="-120"/>
              </a:rPr>
              <a:t>Run system tests and establish a system maintenance plan</a:t>
            </a:r>
          </a:p>
          <a:p>
            <a:pPr marL="342900" indent="-342900" algn="l">
              <a:lnSpc>
                <a:spcPct val="115000"/>
              </a:lnSpc>
              <a:spcAft>
                <a:spcPts val="1600"/>
              </a:spcAft>
              <a:buSzPct val="100000"/>
              <a:buChar char="•"/>
            </a:pPr>
            <a:r>
              <a:rPr lang="en-US" sz="1500" dirty="0">
                <a:solidFill>
                  <a:srgbClr val="2D3B2D"/>
                </a:solidFill>
                <a:latin typeface="Calibri" pitchFamily="34" charset="0"/>
                <a:ea typeface="Calibri" pitchFamily="34" charset="-122"/>
                <a:cs typeface="Calibri" pitchFamily="34" charset="-120"/>
              </a:rPr>
              <a:t>Assemble the final report and present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313</TotalTime>
  <Words>2449</Words>
  <Application>Microsoft Office PowerPoint</Application>
  <PresentationFormat>On-screen Show (16:9)</PresentationFormat>
  <Paragraphs>162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Georgia</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Ryan Bains-Jordan</cp:lastModifiedBy>
  <cp:revision>43</cp:revision>
  <dcterms:created xsi:type="dcterms:W3CDTF">2026-05-02T19:20:58Z</dcterms:created>
  <dcterms:modified xsi:type="dcterms:W3CDTF">2026-05-05T23:22:08Z</dcterms:modified>
</cp:coreProperties>
</file>